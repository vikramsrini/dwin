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3840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88952" cy="109728"/>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22960"/>
            <a:ext cx="10972800" cy="1005840"/>
          </a:xfrm>
          <a:prstGeom prst="rect">
            <a:avLst/>
          </a:prstGeom>
          <a:noFill/>
        </p:spPr>
        <p:txBody>
          <a:bodyPr wrap="square">
            <a:spAutoFit/>
          </a:bodyPr>
          <a:lstStyle/>
          <a:p>
            <a:pPr algn="l"/>
            <a:r>
              <a:rPr sz="3800" b="1" i="0">
                <a:solidFill>
                  <a:srgbClr val="FFFFFF"/>
                </a:solidFill>
                <a:latin typeface="Calibri"/>
              </a:rPr>
              <a:t>Digital Twin Health Activity Tracker</a:t>
            </a:r>
          </a:p>
        </p:txBody>
      </p:sp>
      <p:sp>
        <p:nvSpPr>
          <p:cNvPr id="5" name="TextBox 4"/>
          <p:cNvSpPr txBox="1"/>
          <p:nvPr/>
        </p:nvSpPr>
        <p:spPr>
          <a:xfrm>
            <a:off x="640080" y="1920240"/>
            <a:ext cx="10972800" cy="457200"/>
          </a:xfrm>
          <a:prstGeom prst="rect">
            <a:avLst/>
          </a:prstGeom>
          <a:noFill/>
        </p:spPr>
        <p:txBody>
          <a:bodyPr wrap="square">
            <a:spAutoFit/>
          </a:bodyPr>
          <a:lstStyle/>
          <a:p>
            <a:pPr algn="l"/>
            <a:r>
              <a:rPr sz="2000" b="0" i="0">
                <a:solidFill>
                  <a:srgbClr val="B0C8F0"/>
                </a:solidFill>
                <a:latin typeface="Calibri"/>
              </a:rPr>
              <a:t>Maintenance Process Model</a:t>
            </a:r>
          </a:p>
        </p:txBody>
      </p:sp>
      <p:sp>
        <p:nvSpPr>
          <p:cNvPr id="6" name="Rounded Rectangle 5"/>
          <p:cNvSpPr/>
          <p:nvPr/>
        </p:nvSpPr>
        <p:spPr>
          <a:xfrm>
            <a:off x="640080" y="2606040"/>
            <a:ext cx="5029200" cy="640080"/>
          </a:xfrm>
          <a:prstGeom prst="roundRect">
            <a:avLst/>
          </a:prstGeom>
          <a:solidFill>
            <a:srgbClr val="4A90D9"/>
          </a:solidFill>
          <a:ln>
            <a:solidFill>
              <a:srgbClr val="4A90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651760"/>
            <a:ext cx="4846320" cy="548640"/>
          </a:xfrm>
          <a:prstGeom prst="rect">
            <a:avLst/>
          </a:prstGeom>
          <a:noFill/>
        </p:spPr>
        <p:txBody>
          <a:bodyPr wrap="square">
            <a:spAutoFit/>
          </a:bodyPr>
          <a:lstStyle/>
          <a:p>
            <a:pPr algn="l"/>
            <a:r>
              <a:rPr sz="1800" b="1" i="0">
                <a:solidFill>
                  <a:srgbClr val="FFFFFF"/>
                </a:solidFill>
                <a:latin typeface="Calibri"/>
              </a:rPr>
              <a:t>Model: Iterative Enhancement Model</a:t>
            </a:r>
          </a:p>
        </p:txBody>
      </p:sp>
      <p:sp>
        <p:nvSpPr>
          <p:cNvPr id="8" name="Rounded Rectangle 7"/>
          <p:cNvSpPr/>
          <p:nvPr/>
        </p:nvSpPr>
        <p:spPr>
          <a:xfrm>
            <a:off x="640080" y="4206240"/>
            <a:ext cx="3200400" cy="640080"/>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4251960"/>
            <a:ext cx="1005840" cy="502920"/>
          </a:xfrm>
          <a:prstGeom prst="rect">
            <a:avLst/>
          </a:prstGeom>
          <a:noFill/>
        </p:spPr>
        <p:txBody>
          <a:bodyPr wrap="square">
            <a:spAutoFit/>
          </a:bodyPr>
          <a:lstStyle/>
          <a:p>
            <a:pPr algn="l"/>
            <a:r>
              <a:rPr sz="1100" b="1" i="0">
                <a:solidFill>
                  <a:srgbClr val="2E6DA8"/>
                </a:solidFill>
                <a:latin typeface="Calibri"/>
              </a:rPr>
              <a:t>Date</a:t>
            </a:r>
          </a:p>
        </p:txBody>
      </p:sp>
      <p:sp>
        <p:nvSpPr>
          <p:cNvPr id="10" name="TextBox 9"/>
          <p:cNvSpPr txBox="1"/>
          <p:nvPr/>
        </p:nvSpPr>
        <p:spPr>
          <a:xfrm>
            <a:off x="1737360" y="4251960"/>
            <a:ext cx="2011680" cy="502920"/>
          </a:xfrm>
          <a:prstGeom prst="rect">
            <a:avLst/>
          </a:prstGeom>
          <a:noFill/>
        </p:spPr>
        <p:txBody>
          <a:bodyPr wrap="square">
            <a:spAutoFit/>
          </a:bodyPr>
          <a:lstStyle/>
          <a:p>
            <a:pPr algn="l"/>
            <a:r>
              <a:rPr sz="1100" b="0" i="0">
                <a:solidFill>
                  <a:srgbClr val="1A1A2E"/>
                </a:solidFill>
                <a:latin typeface="Calibri"/>
              </a:rPr>
              <a:t>29 April 2026</a:t>
            </a:r>
          </a:p>
        </p:txBody>
      </p:sp>
      <p:sp>
        <p:nvSpPr>
          <p:cNvPr id="11" name="Rounded Rectangle 10"/>
          <p:cNvSpPr/>
          <p:nvPr/>
        </p:nvSpPr>
        <p:spPr>
          <a:xfrm>
            <a:off x="4297680" y="4206240"/>
            <a:ext cx="3200400" cy="640080"/>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4251960"/>
            <a:ext cx="1005840" cy="502920"/>
          </a:xfrm>
          <a:prstGeom prst="rect">
            <a:avLst/>
          </a:prstGeom>
          <a:noFill/>
        </p:spPr>
        <p:txBody>
          <a:bodyPr wrap="square">
            <a:spAutoFit/>
          </a:bodyPr>
          <a:lstStyle/>
          <a:p>
            <a:pPr algn="l"/>
            <a:r>
              <a:rPr sz="1100" b="1" i="0">
                <a:solidFill>
                  <a:srgbClr val="2E6DA8"/>
                </a:solidFill>
                <a:latin typeface="Calibri"/>
              </a:rPr>
              <a:t>Team</a:t>
            </a:r>
          </a:p>
        </p:txBody>
      </p:sp>
      <p:sp>
        <p:nvSpPr>
          <p:cNvPr id="13" name="TextBox 12"/>
          <p:cNvSpPr txBox="1"/>
          <p:nvPr/>
        </p:nvSpPr>
        <p:spPr>
          <a:xfrm>
            <a:off x="5394960" y="4251960"/>
            <a:ext cx="2011680" cy="502920"/>
          </a:xfrm>
          <a:prstGeom prst="rect">
            <a:avLst/>
          </a:prstGeom>
          <a:noFill/>
        </p:spPr>
        <p:txBody>
          <a:bodyPr wrap="square">
            <a:spAutoFit/>
          </a:bodyPr>
          <a:lstStyle/>
          <a:p>
            <a:pPr algn="l"/>
            <a:r>
              <a:rPr sz="1100" b="0" i="0">
                <a:solidFill>
                  <a:srgbClr val="1A1A2E"/>
                </a:solidFill>
                <a:latin typeface="Calibri"/>
              </a:rPr>
              <a:t>Project Development Team</a:t>
            </a:r>
          </a:p>
        </p:txBody>
      </p:sp>
      <p:sp>
        <p:nvSpPr>
          <p:cNvPr id="14" name="Rectangle 13"/>
          <p:cNvSpPr/>
          <p:nvPr/>
        </p:nvSpPr>
        <p:spPr>
          <a:xfrm>
            <a:off x="0" y="6309360"/>
            <a:ext cx="12188952" cy="548640"/>
          </a:xfrm>
          <a:prstGeom prst="rect">
            <a:avLst/>
          </a:prstGeom>
          <a:solidFill>
            <a:srgbClr val="2E6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336792"/>
            <a:ext cx="10972800" cy="411480"/>
          </a:xfrm>
          <a:prstGeom prst="rect">
            <a:avLst/>
          </a:prstGeom>
          <a:noFill/>
        </p:spPr>
        <p:txBody>
          <a:bodyPr wrap="square">
            <a:spAutoFit/>
          </a:bodyPr>
          <a:lstStyle/>
          <a:p>
            <a:pPr algn="l"/>
            <a:r>
              <a:rPr sz="1100" b="0" i="0">
                <a:solidFill>
                  <a:srgbClr val="FFFFFF"/>
                </a:solidFill>
                <a:latin typeface="Calibri"/>
              </a:rPr>
              <a:t>Software Maintenance Engineering  |  Iterative Enhancement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Maintenance Process Model Selection</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Project: Digital Twin Health Activity Tracker</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280160"/>
            <a:ext cx="11064240" cy="685800"/>
          </a:xfrm>
          <a:prstGeom prst="roundRect">
            <a:avLst/>
          </a:prstGeom>
          <a:solidFill>
            <a:srgbClr val="2E6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53312"/>
            <a:ext cx="10972800" cy="548640"/>
          </a:xfrm>
          <a:prstGeom prst="rect">
            <a:avLst/>
          </a:prstGeom>
          <a:noFill/>
        </p:spPr>
        <p:txBody>
          <a:bodyPr wrap="square">
            <a:spAutoFit/>
          </a:bodyPr>
          <a:lstStyle/>
          <a:p>
            <a:pPr algn="l"/>
            <a:r>
              <a:rPr sz="2000" b="1" i="0">
                <a:solidFill>
                  <a:srgbClr val="FFFFFF"/>
                </a:solidFill>
                <a:latin typeface="Calibri"/>
              </a:rPr>
              <a:t>✔  Selected Model:  Iterative Enhancement Model</a:t>
            </a:r>
          </a:p>
        </p:txBody>
      </p:sp>
      <p:sp>
        <p:nvSpPr>
          <p:cNvPr id="8" name="Rectangle 7"/>
          <p:cNvSpPr/>
          <p:nvPr/>
        </p:nvSpPr>
        <p:spPr>
          <a:xfrm>
            <a:off x="731520" y="2148840"/>
            <a:ext cx="10725912" cy="25400"/>
          </a:xfrm>
          <a:prstGeom prst="rect">
            <a:avLst/>
          </a:prstGeom>
          <a:solidFill>
            <a:srgbClr val="2E6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240280"/>
            <a:ext cx="5394960" cy="320040"/>
          </a:xfrm>
          <a:prstGeom prst="rect">
            <a:avLst/>
          </a:prstGeom>
          <a:noFill/>
        </p:spPr>
        <p:txBody>
          <a:bodyPr wrap="square">
            <a:spAutoFit/>
          </a:bodyPr>
          <a:lstStyle/>
          <a:p>
            <a:pPr algn="l"/>
            <a:r>
              <a:rPr sz="1500" b="1" i="0">
                <a:solidFill>
                  <a:srgbClr val="1F3A5F"/>
                </a:solidFill>
                <a:latin typeface="Calibri"/>
              </a:rPr>
              <a:t>Why Iterative Enhancement?</a:t>
            </a:r>
          </a:p>
        </p:txBody>
      </p:sp>
      <p:sp>
        <p:nvSpPr>
          <p:cNvPr id="10" name="TextBox 9"/>
          <p:cNvSpPr txBox="1"/>
          <p:nvPr/>
        </p:nvSpPr>
        <p:spPr>
          <a:xfrm>
            <a:off x="640080" y="2633472"/>
            <a:ext cx="5120640" cy="256032"/>
          </a:xfrm>
          <a:prstGeom prst="rect">
            <a:avLst/>
          </a:prstGeom>
          <a:noFill/>
        </p:spPr>
        <p:txBody>
          <a:bodyPr wrap="square">
            <a:spAutoFit/>
          </a:bodyPr>
          <a:lstStyle/>
          <a:p>
            <a:pPr algn="l"/>
            <a:r>
              <a:rPr sz="1200" b="1" i="0">
                <a:solidFill>
                  <a:srgbClr val="2E6DA8"/>
                </a:solidFill>
                <a:latin typeface="Calibri"/>
              </a:rPr>
              <a:t>▸  Continuous Evolution</a:t>
            </a:r>
          </a:p>
        </p:txBody>
      </p:sp>
      <p:sp>
        <p:nvSpPr>
          <p:cNvPr id="11" name="TextBox 10"/>
          <p:cNvSpPr txBox="1"/>
          <p:nvPr/>
        </p:nvSpPr>
        <p:spPr>
          <a:xfrm>
            <a:off x="731520" y="2889504"/>
            <a:ext cx="5029200" cy="292608"/>
          </a:xfrm>
          <a:prstGeom prst="rect">
            <a:avLst/>
          </a:prstGeom>
          <a:noFill/>
        </p:spPr>
        <p:txBody>
          <a:bodyPr wrap="square">
            <a:spAutoFit/>
          </a:bodyPr>
          <a:lstStyle/>
          <a:p>
            <a:pPr algn="l"/>
            <a:r>
              <a:rPr sz="1100" b="0" i="0">
                <a:solidFill>
                  <a:srgbClr val="4A4A6A"/>
                </a:solidFill>
                <a:latin typeface="Calibri"/>
              </a:rPr>
              <a:t>Digital twin health-score algorithm needs periodic recalibration as more user activity data is gathered.</a:t>
            </a:r>
          </a:p>
        </p:txBody>
      </p:sp>
      <p:sp>
        <p:nvSpPr>
          <p:cNvPr id="12" name="TextBox 11"/>
          <p:cNvSpPr txBox="1"/>
          <p:nvPr/>
        </p:nvSpPr>
        <p:spPr>
          <a:xfrm>
            <a:off x="640080" y="3255264"/>
            <a:ext cx="5120640" cy="256032"/>
          </a:xfrm>
          <a:prstGeom prst="rect">
            <a:avLst/>
          </a:prstGeom>
          <a:noFill/>
        </p:spPr>
        <p:txBody>
          <a:bodyPr wrap="square">
            <a:spAutoFit/>
          </a:bodyPr>
          <a:lstStyle/>
          <a:p>
            <a:pPr algn="l"/>
            <a:r>
              <a:rPr sz="1200" b="1" i="0">
                <a:solidFill>
                  <a:srgbClr val="2E6DA8"/>
                </a:solidFill>
                <a:latin typeface="Calibri"/>
              </a:rPr>
              <a:t>▸  User-Driven Feedback</a:t>
            </a:r>
          </a:p>
        </p:txBody>
      </p:sp>
      <p:sp>
        <p:nvSpPr>
          <p:cNvPr id="13" name="TextBox 12"/>
          <p:cNvSpPr txBox="1"/>
          <p:nvPr/>
        </p:nvSpPr>
        <p:spPr>
          <a:xfrm>
            <a:off x="731520" y="3511296"/>
            <a:ext cx="5029200" cy="292608"/>
          </a:xfrm>
          <a:prstGeom prst="rect">
            <a:avLst/>
          </a:prstGeom>
          <a:noFill/>
        </p:spPr>
        <p:txBody>
          <a:bodyPr wrap="square">
            <a:spAutoFit/>
          </a:bodyPr>
          <a:lstStyle/>
          <a:p>
            <a:pPr algn="l"/>
            <a:r>
              <a:rPr sz="1100" b="0" i="0">
                <a:solidFill>
                  <a:srgbClr val="4A4A6A"/>
                </a:solidFill>
                <a:latin typeface="Calibri"/>
              </a:rPr>
              <a:t>Health metrics (steps, sleep, calories, workouts) require iterative UX improvements each cycle.</a:t>
            </a:r>
          </a:p>
        </p:txBody>
      </p:sp>
      <p:sp>
        <p:nvSpPr>
          <p:cNvPr id="14" name="TextBox 13"/>
          <p:cNvSpPr txBox="1"/>
          <p:nvPr/>
        </p:nvSpPr>
        <p:spPr>
          <a:xfrm>
            <a:off x="640080" y="3877056"/>
            <a:ext cx="5120640" cy="256032"/>
          </a:xfrm>
          <a:prstGeom prst="rect">
            <a:avLst/>
          </a:prstGeom>
          <a:noFill/>
        </p:spPr>
        <p:txBody>
          <a:bodyPr wrap="square">
            <a:spAutoFit/>
          </a:bodyPr>
          <a:lstStyle/>
          <a:p>
            <a:pPr algn="l"/>
            <a:r>
              <a:rPr sz="1200" b="1" i="0">
                <a:solidFill>
                  <a:srgbClr val="2E6DA8"/>
                </a:solidFill>
                <a:latin typeface="Calibri"/>
              </a:rPr>
              <a:t>▸  Safe Schema Growth</a:t>
            </a:r>
          </a:p>
        </p:txBody>
      </p:sp>
      <p:sp>
        <p:nvSpPr>
          <p:cNvPr id="15" name="TextBox 14"/>
          <p:cNvSpPr txBox="1"/>
          <p:nvPr/>
        </p:nvSpPr>
        <p:spPr>
          <a:xfrm>
            <a:off x="731520" y="4133088"/>
            <a:ext cx="5029200" cy="292608"/>
          </a:xfrm>
          <a:prstGeom prst="rect">
            <a:avLst/>
          </a:prstGeom>
          <a:noFill/>
        </p:spPr>
        <p:txBody>
          <a:bodyPr wrap="square">
            <a:spAutoFit/>
          </a:bodyPr>
          <a:lstStyle/>
          <a:p>
            <a:pPr algn="l"/>
            <a:r>
              <a:rPr sz="1100" b="0" i="0">
                <a:solidFill>
                  <a:srgbClr val="4A4A6A"/>
                </a:solidFill>
                <a:latin typeface="Calibri"/>
              </a:rPr>
              <a:t>SQLite schema evolves as new activity types are added; iterative cycles enable safe migrations.</a:t>
            </a:r>
          </a:p>
        </p:txBody>
      </p:sp>
      <p:sp>
        <p:nvSpPr>
          <p:cNvPr id="16" name="TextBox 15"/>
          <p:cNvSpPr txBox="1"/>
          <p:nvPr/>
        </p:nvSpPr>
        <p:spPr>
          <a:xfrm>
            <a:off x="640080" y="4498848"/>
            <a:ext cx="5120640" cy="256032"/>
          </a:xfrm>
          <a:prstGeom prst="rect">
            <a:avLst/>
          </a:prstGeom>
          <a:noFill/>
        </p:spPr>
        <p:txBody>
          <a:bodyPr wrap="square">
            <a:spAutoFit/>
          </a:bodyPr>
          <a:lstStyle/>
          <a:p>
            <a:pPr algn="l"/>
            <a:r>
              <a:rPr sz="1200" b="1" i="0">
                <a:solidFill>
                  <a:srgbClr val="2E6DA8"/>
                </a:solidFill>
                <a:latin typeface="Calibri"/>
              </a:rPr>
              <a:t>▸  API Enhancement</a:t>
            </a:r>
          </a:p>
        </p:txBody>
      </p:sp>
      <p:sp>
        <p:nvSpPr>
          <p:cNvPr id="17" name="TextBox 16"/>
          <p:cNvSpPr txBox="1"/>
          <p:nvPr/>
        </p:nvSpPr>
        <p:spPr>
          <a:xfrm>
            <a:off x="731520" y="4754880"/>
            <a:ext cx="5029200" cy="292608"/>
          </a:xfrm>
          <a:prstGeom prst="rect">
            <a:avLst/>
          </a:prstGeom>
          <a:noFill/>
        </p:spPr>
        <p:txBody>
          <a:bodyPr wrap="square">
            <a:spAutoFit/>
          </a:bodyPr>
          <a:lstStyle/>
          <a:p>
            <a:pPr algn="l"/>
            <a:r>
              <a:rPr sz="1100" b="0" i="0">
                <a:solidFill>
                  <a:srgbClr val="4A4A6A"/>
                </a:solidFill>
                <a:latin typeface="Calibri"/>
              </a:rPr>
              <a:t>REST endpoints need backward-compatible extensions without breaking existing clients.</a:t>
            </a:r>
          </a:p>
        </p:txBody>
      </p:sp>
      <p:sp>
        <p:nvSpPr>
          <p:cNvPr id="18" name="TextBox 17"/>
          <p:cNvSpPr txBox="1"/>
          <p:nvPr/>
        </p:nvSpPr>
        <p:spPr>
          <a:xfrm>
            <a:off x="640080" y="5120640"/>
            <a:ext cx="5120640" cy="256032"/>
          </a:xfrm>
          <a:prstGeom prst="rect">
            <a:avLst/>
          </a:prstGeom>
          <a:noFill/>
        </p:spPr>
        <p:txBody>
          <a:bodyPr wrap="square">
            <a:spAutoFit/>
          </a:bodyPr>
          <a:lstStyle/>
          <a:p>
            <a:pPr algn="l"/>
            <a:r>
              <a:rPr sz="1200" b="1" i="0">
                <a:solidFill>
                  <a:srgbClr val="2E6DA8"/>
                </a:solidFill>
                <a:latin typeface="Calibri"/>
              </a:rPr>
              <a:t>▸  Ongoing Calibration</a:t>
            </a:r>
          </a:p>
        </p:txBody>
      </p:sp>
      <p:sp>
        <p:nvSpPr>
          <p:cNvPr id="19" name="TextBox 18"/>
          <p:cNvSpPr txBox="1"/>
          <p:nvPr/>
        </p:nvSpPr>
        <p:spPr>
          <a:xfrm>
            <a:off x="731520" y="5376672"/>
            <a:ext cx="5029200" cy="292608"/>
          </a:xfrm>
          <a:prstGeom prst="rect">
            <a:avLst/>
          </a:prstGeom>
          <a:noFill/>
        </p:spPr>
        <p:txBody>
          <a:bodyPr wrap="square">
            <a:spAutoFit/>
          </a:bodyPr>
          <a:lstStyle/>
          <a:p>
            <a:pPr algn="l"/>
            <a:r>
              <a:rPr sz="1100" b="0" i="0">
                <a:solidFill>
                  <a:srgbClr val="4A4A6A"/>
                </a:solidFill>
                <a:latin typeface="Calibri"/>
              </a:rPr>
              <a:t>Health thresholds and rating logic must be tuned periodically against real-world data.</a:t>
            </a:r>
          </a:p>
        </p:txBody>
      </p:sp>
      <p:sp>
        <p:nvSpPr>
          <p:cNvPr id="20" name="Rounded Rectangle 19"/>
          <p:cNvSpPr/>
          <p:nvPr/>
        </p:nvSpPr>
        <p:spPr>
          <a:xfrm>
            <a:off x="6400800" y="2148840"/>
            <a:ext cx="5212080" cy="4389120"/>
          </a:xfrm>
          <a:prstGeom prst="roundRect">
            <a:avLst/>
          </a:prstGeom>
          <a:solidFill>
            <a:srgbClr val="F4F7FB"/>
          </a:solidFill>
          <a:ln w="12700">
            <a:solidFill>
              <a:srgbClr val="4A90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240280"/>
            <a:ext cx="5029200" cy="320040"/>
          </a:xfrm>
          <a:prstGeom prst="rect">
            <a:avLst/>
          </a:prstGeom>
          <a:noFill/>
        </p:spPr>
        <p:txBody>
          <a:bodyPr wrap="square">
            <a:spAutoFit/>
          </a:bodyPr>
          <a:lstStyle/>
          <a:p>
            <a:pPr algn="l"/>
            <a:r>
              <a:rPr sz="1500" b="1" i="0">
                <a:solidFill>
                  <a:srgbClr val="1F3A5F"/>
                </a:solidFill>
                <a:latin typeface="Calibri"/>
              </a:rPr>
              <a:t>Other Models Considered</a:t>
            </a:r>
          </a:p>
        </p:txBody>
      </p:sp>
      <p:sp>
        <p:nvSpPr>
          <p:cNvPr id="22" name="TextBox 21"/>
          <p:cNvSpPr txBox="1"/>
          <p:nvPr/>
        </p:nvSpPr>
        <p:spPr>
          <a:xfrm>
            <a:off x="6492240" y="2633472"/>
            <a:ext cx="4937760" cy="256032"/>
          </a:xfrm>
          <a:prstGeom prst="rect">
            <a:avLst/>
          </a:prstGeom>
          <a:noFill/>
        </p:spPr>
        <p:txBody>
          <a:bodyPr wrap="square">
            <a:spAutoFit/>
          </a:bodyPr>
          <a:lstStyle/>
          <a:p>
            <a:pPr algn="l"/>
            <a:r>
              <a:rPr sz="1200" b="1" i="0">
                <a:solidFill>
                  <a:srgbClr val="7F0000"/>
                </a:solidFill>
                <a:latin typeface="Calibri"/>
              </a:rPr>
              <a:t>✗  Quick Fix Model</a:t>
            </a:r>
          </a:p>
        </p:txBody>
      </p:sp>
      <p:sp>
        <p:nvSpPr>
          <p:cNvPr id="23" name="TextBox 22"/>
          <p:cNvSpPr txBox="1"/>
          <p:nvPr/>
        </p:nvSpPr>
        <p:spPr>
          <a:xfrm>
            <a:off x="6583680" y="2889504"/>
            <a:ext cx="4846320" cy="329184"/>
          </a:xfrm>
          <a:prstGeom prst="rect">
            <a:avLst/>
          </a:prstGeom>
          <a:noFill/>
        </p:spPr>
        <p:txBody>
          <a:bodyPr wrap="square">
            <a:spAutoFit/>
          </a:bodyPr>
          <a:lstStyle/>
          <a:p>
            <a:pPr algn="l"/>
            <a:r>
              <a:rPr sz="1100" b="0" i="0">
                <a:solidFill>
                  <a:srgbClr val="4A4A6A"/>
                </a:solidFill>
                <a:latin typeface="Calibri"/>
              </a:rPr>
              <a:t>Rejected — reactive only, no structured
phased improvement cycle.</a:t>
            </a:r>
          </a:p>
        </p:txBody>
      </p:sp>
      <p:sp>
        <p:nvSpPr>
          <p:cNvPr id="24" name="TextBox 23"/>
          <p:cNvSpPr txBox="1"/>
          <p:nvPr/>
        </p:nvSpPr>
        <p:spPr>
          <a:xfrm>
            <a:off x="6492240" y="3364992"/>
            <a:ext cx="4937760" cy="256032"/>
          </a:xfrm>
          <a:prstGeom prst="rect">
            <a:avLst/>
          </a:prstGeom>
          <a:noFill/>
        </p:spPr>
        <p:txBody>
          <a:bodyPr wrap="square">
            <a:spAutoFit/>
          </a:bodyPr>
          <a:lstStyle/>
          <a:p>
            <a:pPr algn="l"/>
            <a:r>
              <a:rPr sz="1200" b="1" i="0">
                <a:solidFill>
                  <a:srgbClr val="7F0000"/>
                </a:solidFill>
                <a:latin typeface="Calibri"/>
              </a:rPr>
              <a:t>✗  Boehm Model</a:t>
            </a:r>
          </a:p>
        </p:txBody>
      </p:sp>
      <p:sp>
        <p:nvSpPr>
          <p:cNvPr id="25" name="TextBox 24"/>
          <p:cNvSpPr txBox="1"/>
          <p:nvPr/>
        </p:nvSpPr>
        <p:spPr>
          <a:xfrm>
            <a:off x="6583680" y="3621024"/>
            <a:ext cx="4846320" cy="329184"/>
          </a:xfrm>
          <a:prstGeom prst="rect">
            <a:avLst/>
          </a:prstGeom>
          <a:noFill/>
        </p:spPr>
        <p:txBody>
          <a:bodyPr wrap="square">
            <a:spAutoFit/>
          </a:bodyPr>
          <a:lstStyle/>
          <a:p>
            <a:pPr algn="l"/>
            <a:r>
              <a:rPr sz="1100" b="0" i="0">
                <a:solidFill>
                  <a:srgbClr val="4A4A6A"/>
                </a:solidFill>
                <a:latin typeface="Calibri"/>
              </a:rPr>
              <a:t>Partially adopted — used for maintenance
type classification only.</a:t>
            </a:r>
          </a:p>
        </p:txBody>
      </p:sp>
      <p:sp>
        <p:nvSpPr>
          <p:cNvPr id="26" name="TextBox 25"/>
          <p:cNvSpPr txBox="1"/>
          <p:nvPr/>
        </p:nvSpPr>
        <p:spPr>
          <a:xfrm>
            <a:off x="6492240" y="4096512"/>
            <a:ext cx="4937760" cy="256032"/>
          </a:xfrm>
          <a:prstGeom prst="rect">
            <a:avLst/>
          </a:prstGeom>
          <a:noFill/>
        </p:spPr>
        <p:txBody>
          <a:bodyPr wrap="square">
            <a:spAutoFit/>
          </a:bodyPr>
          <a:lstStyle/>
          <a:p>
            <a:pPr algn="l"/>
            <a:r>
              <a:rPr sz="1200" b="1" i="0">
                <a:solidFill>
                  <a:srgbClr val="7F0000"/>
                </a:solidFill>
                <a:latin typeface="Calibri"/>
              </a:rPr>
              <a:t>✗  Osborne Model</a:t>
            </a:r>
          </a:p>
        </p:txBody>
      </p:sp>
      <p:sp>
        <p:nvSpPr>
          <p:cNvPr id="27" name="TextBox 26"/>
          <p:cNvSpPr txBox="1"/>
          <p:nvPr/>
        </p:nvSpPr>
        <p:spPr>
          <a:xfrm>
            <a:off x="6583680" y="4352544"/>
            <a:ext cx="4846320" cy="329184"/>
          </a:xfrm>
          <a:prstGeom prst="rect">
            <a:avLst/>
          </a:prstGeom>
          <a:noFill/>
        </p:spPr>
        <p:txBody>
          <a:bodyPr wrap="square">
            <a:spAutoFit/>
          </a:bodyPr>
          <a:lstStyle/>
          <a:p>
            <a:pPr algn="l"/>
            <a:r>
              <a:rPr sz="1100" b="0" i="0">
                <a:solidFill>
                  <a:srgbClr val="4A4A6A"/>
                </a:solidFill>
                <a:latin typeface="Calibri"/>
              </a:rPr>
              <a:t>Rejected — suited for legacy COBOL-era
systems, not a modern Node.js stack.</a:t>
            </a:r>
          </a:p>
        </p:txBody>
      </p:sp>
      <p:sp>
        <p:nvSpPr>
          <p:cNvPr id="28" name="TextBox 27"/>
          <p:cNvSpPr txBox="1"/>
          <p:nvPr/>
        </p:nvSpPr>
        <p:spPr>
          <a:xfrm>
            <a:off x="6492240" y="4828032"/>
            <a:ext cx="4937760" cy="256032"/>
          </a:xfrm>
          <a:prstGeom prst="rect">
            <a:avLst/>
          </a:prstGeom>
          <a:noFill/>
        </p:spPr>
        <p:txBody>
          <a:bodyPr wrap="square">
            <a:spAutoFit/>
          </a:bodyPr>
          <a:lstStyle/>
          <a:p>
            <a:pPr algn="l"/>
            <a:r>
              <a:rPr sz="1200" b="1" i="0">
                <a:solidFill>
                  <a:srgbClr val="7F0000"/>
                </a:solidFill>
                <a:latin typeface="Calibri"/>
              </a:rPr>
              <a:t>✗  Reuse-Oriented Model</a:t>
            </a:r>
          </a:p>
        </p:txBody>
      </p:sp>
      <p:sp>
        <p:nvSpPr>
          <p:cNvPr id="29" name="TextBox 28"/>
          <p:cNvSpPr txBox="1"/>
          <p:nvPr/>
        </p:nvSpPr>
        <p:spPr>
          <a:xfrm>
            <a:off x="6583680" y="5084064"/>
            <a:ext cx="4846320" cy="329184"/>
          </a:xfrm>
          <a:prstGeom prst="rect">
            <a:avLst/>
          </a:prstGeom>
          <a:noFill/>
        </p:spPr>
        <p:txBody>
          <a:bodyPr wrap="square">
            <a:spAutoFit/>
          </a:bodyPr>
          <a:lstStyle/>
          <a:p>
            <a:pPr algn="l"/>
            <a:r>
              <a:rPr sz="1100" b="0" i="0">
                <a:solidFill>
                  <a:srgbClr val="4A4A6A"/>
                </a:solidFill>
                <a:latin typeface="Calibri"/>
              </a:rPr>
              <a:t>Not applicable — system is built from
scratch, limited reuse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Iterative Enhancement Process Flow</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Six-step maintenance cycle applied to the Digital Twin system</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g_cycle.png"/>
          <p:cNvPicPr>
            <a:picLocks noChangeAspect="1"/>
          </p:cNvPicPr>
          <p:nvPr/>
        </p:nvPicPr>
        <p:blipFill>
          <a:blip r:embed="rId2"/>
          <a:stretch>
            <a:fillRect/>
          </a:stretch>
        </p:blipFill>
        <p:spPr>
          <a:xfrm>
            <a:off x="457200" y="1234440"/>
            <a:ext cx="4898091" cy="5440680"/>
          </a:xfrm>
          <a:prstGeom prst="rect">
            <a:avLst/>
          </a:prstGeom>
        </p:spPr>
      </p:pic>
      <p:sp>
        <p:nvSpPr>
          <p:cNvPr id="7" name="TextBox 6"/>
          <p:cNvSpPr txBox="1"/>
          <p:nvPr/>
        </p:nvSpPr>
        <p:spPr>
          <a:xfrm>
            <a:off x="6492240" y="1371600"/>
            <a:ext cx="5303520" cy="256032"/>
          </a:xfrm>
          <a:prstGeom prst="rect">
            <a:avLst/>
          </a:prstGeom>
          <a:noFill/>
        </p:spPr>
        <p:txBody>
          <a:bodyPr wrap="square">
            <a:spAutoFit/>
          </a:bodyPr>
          <a:lstStyle/>
          <a:p>
            <a:pPr algn="l"/>
            <a:r>
              <a:rPr sz="1300" b="1" i="0">
                <a:solidFill>
                  <a:srgbClr val="1F3A5F"/>
                </a:solidFill>
                <a:latin typeface="Calibri"/>
              </a:rPr>
              <a:t>1. Identify Change</a:t>
            </a:r>
          </a:p>
        </p:txBody>
      </p:sp>
      <p:sp>
        <p:nvSpPr>
          <p:cNvPr id="8" name="TextBox 7"/>
          <p:cNvSpPr txBox="1"/>
          <p:nvPr/>
        </p:nvSpPr>
        <p:spPr>
          <a:xfrm>
            <a:off x="6583680" y="1618488"/>
            <a:ext cx="5120640" cy="292608"/>
          </a:xfrm>
          <a:prstGeom prst="rect">
            <a:avLst/>
          </a:prstGeom>
          <a:noFill/>
        </p:spPr>
        <p:txBody>
          <a:bodyPr wrap="square">
            <a:spAutoFit/>
          </a:bodyPr>
          <a:lstStyle/>
          <a:p>
            <a:pPr algn="l"/>
            <a:r>
              <a:rPr sz="1100" b="0" i="0">
                <a:solidFill>
                  <a:srgbClr val="4A4A6A"/>
                </a:solidFill>
                <a:latin typeface="Calibri"/>
              </a:rPr>
              <a:t>Bug reports, user feedback, or tech-debt items raise a maintenance need.</a:t>
            </a:r>
          </a:p>
        </p:txBody>
      </p:sp>
      <p:sp>
        <p:nvSpPr>
          <p:cNvPr id="9" name="TextBox 8"/>
          <p:cNvSpPr txBox="1"/>
          <p:nvPr/>
        </p:nvSpPr>
        <p:spPr>
          <a:xfrm>
            <a:off x="6492240" y="2176272"/>
            <a:ext cx="5303520" cy="256032"/>
          </a:xfrm>
          <a:prstGeom prst="rect">
            <a:avLst/>
          </a:prstGeom>
          <a:noFill/>
        </p:spPr>
        <p:txBody>
          <a:bodyPr wrap="square">
            <a:spAutoFit/>
          </a:bodyPr>
          <a:lstStyle/>
          <a:p>
            <a:pPr algn="l"/>
            <a:r>
              <a:rPr sz="1300" b="1" i="0">
                <a:solidFill>
                  <a:srgbClr val="1F3A5F"/>
                </a:solidFill>
                <a:latin typeface="Calibri"/>
              </a:rPr>
              <a:t>2. Analyze Impact</a:t>
            </a:r>
          </a:p>
        </p:txBody>
      </p:sp>
      <p:sp>
        <p:nvSpPr>
          <p:cNvPr id="10" name="TextBox 9"/>
          <p:cNvSpPr txBox="1"/>
          <p:nvPr/>
        </p:nvSpPr>
        <p:spPr>
          <a:xfrm>
            <a:off x="6583680" y="2423160"/>
            <a:ext cx="5120640" cy="292608"/>
          </a:xfrm>
          <a:prstGeom prst="rect">
            <a:avLst/>
          </a:prstGeom>
          <a:noFill/>
        </p:spPr>
        <p:txBody>
          <a:bodyPr wrap="square">
            <a:spAutoFit/>
          </a:bodyPr>
          <a:lstStyle/>
          <a:p>
            <a:pPr algn="l"/>
            <a:r>
              <a:rPr sz="1100" b="0" i="0">
                <a:solidFill>
                  <a:srgbClr val="4A4A6A"/>
                </a:solidFill>
                <a:latin typeface="Calibri"/>
              </a:rPr>
              <a:t>Assess affected modules (routes, models, DB schema, tests).</a:t>
            </a:r>
          </a:p>
        </p:txBody>
      </p:sp>
      <p:sp>
        <p:nvSpPr>
          <p:cNvPr id="11" name="TextBox 10"/>
          <p:cNvSpPr txBox="1"/>
          <p:nvPr/>
        </p:nvSpPr>
        <p:spPr>
          <a:xfrm>
            <a:off x="6492240" y="2980944"/>
            <a:ext cx="5303520" cy="256032"/>
          </a:xfrm>
          <a:prstGeom prst="rect">
            <a:avLst/>
          </a:prstGeom>
          <a:noFill/>
        </p:spPr>
        <p:txBody>
          <a:bodyPr wrap="square">
            <a:spAutoFit/>
          </a:bodyPr>
          <a:lstStyle/>
          <a:p>
            <a:pPr algn="l"/>
            <a:r>
              <a:rPr sz="1300" b="1" i="0">
                <a:solidFill>
                  <a:srgbClr val="1F3A5F"/>
                </a:solidFill>
                <a:latin typeface="Calibri"/>
              </a:rPr>
              <a:t>3. Design Solution</a:t>
            </a:r>
          </a:p>
        </p:txBody>
      </p:sp>
      <p:sp>
        <p:nvSpPr>
          <p:cNvPr id="12" name="TextBox 11"/>
          <p:cNvSpPr txBox="1"/>
          <p:nvPr/>
        </p:nvSpPr>
        <p:spPr>
          <a:xfrm>
            <a:off x="6583680" y="3227832"/>
            <a:ext cx="5120640" cy="292608"/>
          </a:xfrm>
          <a:prstGeom prst="rect">
            <a:avLst/>
          </a:prstGeom>
          <a:noFill/>
        </p:spPr>
        <p:txBody>
          <a:bodyPr wrap="square">
            <a:spAutoFit/>
          </a:bodyPr>
          <a:lstStyle/>
          <a:p>
            <a:pPr algn="l"/>
            <a:r>
              <a:rPr sz="1100" b="0" i="0">
                <a:solidFill>
                  <a:srgbClr val="4A4A6A"/>
                </a:solidFill>
                <a:latin typeface="Calibri"/>
              </a:rPr>
              <a:t>Draft code changes; update API contracts or DB migration scripts.</a:t>
            </a:r>
          </a:p>
        </p:txBody>
      </p:sp>
      <p:sp>
        <p:nvSpPr>
          <p:cNvPr id="13" name="TextBox 12"/>
          <p:cNvSpPr txBox="1"/>
          <p:nvPr/>
        </p:nvSpPr>
        <p:spPr>
          <a:xfrm>
            <a:off x="6492240" y="3785616"/>
            <a:ext cx="5303520" cy="256032"/>
          </a:xfrm>
          <a:prstGeom prst="rect">
            <a:avLst/>
          </a:prstGeom>
          <a:noFill/>
        </p:spPr>
        <p:txBody>
          <a:bodyPr wrap="square">
            <a:spAutoFit/>
          </a:bodyPr>
          <a:lstStyle/>
          <a:p>
            <a:pPr algn="l"/>
            <a:r>
              <a:rPr sz="1300" b="1" i="0">
                <a:solidFill>
                  <a:srgbClr val="1F3A5F"/>
                </a:solidFill>
                <a:latin typeface="Calibri"/>
              </a:rPr>
              <a:t>4. Implement &amp; Code</a:t>
            </a:r>
          </a:p>
        </p:txBody>
      </p:sp>
      <p:sp>
        <p:nvSpPr>
          <p:cNvPr id="14" name="TextBox 13"/>
          <p:cNvSpPr txBox="1"/>
          <p:nvPr/>
        </p:nvSpPr>
        <p:spPr>
          <a:xfrm>
            <a:off x="6583680" y="4032504"/>
            <a:ext cx="5120640" cy="292608"/>
          </a:xfrm>
          <a:prstGeom prst="rect">
            <a:avLst/>
          </a:prstGeom>
          <a:noFill/>
        </p:spPr>
        <p:txBody>
          <a:bodyPr wrap="square">
            <a:spAutoFit/>
          </a:bodyPr>
          <a:lstStyle/>
          <a:p>
            <a:pPr algn="l"/>
            <a:r>
              <a:rPr sz="1100" b="0" i="0">
                <a:solidFill>
                  <a:srgbClr val="4A4A6A"/>
                </a:solidFill>
                <a:latin typeface="Calibri"/>
              </a:rPr>
              <a:t>Apply changes in feature branch; follow coding standards.</a:t>
            </a:r>
          </a:p>
        </p:txBody>
      </p:sp>
      <p:sp>
        <p:nvSpPr>
          <p:cNvPr id="15" name="TextBox 14"/>
          <p:cNvSpPr txBox="1"/>
          <p:nvPr/>
        </p:nvSpPr>
        <p:spPr>
          <a:xfrm>
            <a:off x="6492240" y="4590288"/>
            <a:ext cx="5303520" cy="256032"/>
          </a:xfrm>
          <a:prstGeom prst="rect">
            <a:avLst/>
          </a:prstGeom>
          <a:noFill/>
        </p:spPr>
        <p:txBody>
          <a:bodyPr wrap="square">
            <a:spAutoFit/>
          </a:bodyPr>
          <a:lstStyle/>
          <a:p>
            <a:pPr algn="l"/>
            <a:r>
              <a:rPr sz="1300" b="1" i="0">
                <a:solidFill>
                  <a:srgbClr val="1F3A5F"/>
                </a:solidFill>
                <a:latin typeface="Calibri"/>
              </a:rPr>
              <a:t>5. Test &amp; Validate</a:t>
            </a:r>
          </a:p>
        </p:txBody>
      </p:sp>
      <p:sp>
        <p:nvSpPr>
          <p:cNvPr id="16" name="TextBox 15"/>
          <p:cNvSpPr txBox="1"/>
          <p:nvPr/>
        </p:nvSpPr>
        <p:spPr>
          <a:xfrm>
            <a:off x="6583680" y="4837176"/>
            <a:ext cx="5120640" cy="292608"/>
          </a:xfrm>
          <a:prstGeom prst="rect">
            <a:avLst/>
          </a:prstGeom>
          <a:noFill/>
        </p:spPr>
        <p:txBody>
          <a:bodyPr wrap="square">
            <a:spAutoFit/>
          </a:bodyPr>
          <a:lstStyle/>
          <a:p>
            <a:pPr algn="l"/>
            <a:r>
              <a:rPr sz="1100" b="0" i="0">
                <a:solidFill>
                  <a:srgbClr val="4A4A6A"/>
                </a:solidFill>
                <a:latin typeface="Calibri"/>
              </a:rPr>
              <a:t>Run api.test.js (Node runner) + Playwright UI suite; check coverage.</a:t>
            </a:r>
          </a:p>
        </p:txBody>
      </p:sp>
      <p:sp>
        <p:nvSpPr>
          <p:cNvPr id="17" name="TextBox 16"/>
          <p:cNvSpPr txBox="1"/>
          <p:nvPr/>
        </p:nvSpPr>
        <p:spPr>
          <a:xfrm>
            <a:off x="6492240" y="5394960"/>
            <a:ext cx="5303520" cy="256032"/>
          </a:xfrm>
          <a:prstGeom prst="rect">
            <a:avLst/>
          </a:prstGeom>
          <a:noFill/>
        </p:spPr>
        <p:txBody>
          <a:bodyPr wrap="square">
            <a:spAutoFit/>
          </a:bodyPr>
          <a:lstStyle/>
          <a:p>
            <a:pPr algn="l"/>
            <a:r>
              <a:rPr sz="1300" b="1" i="0">
                <a:solidFill>
                  <a:srgbClr val="1F3A5F"/>
                </a:solidFill>
                <a:latin typeface="Calibri"/>
              </a:rPr>
              <a:t>6. Deploy &amp; Monitor</a:t>
            </a:r>
          </a:p>
        </p:txBody>
      </p:sp>
      <p:sp>
        <p:nvSpPr>
          <p:cNvPr id="18" name="TextBox 17"/>
          <p:cNvSpPr txBox="1"/>
          <p:nvPr/>
        </p:nvSpPr>
        <p:spPr>
          <a:xfrm>
            <a:off x="6583680" y="5641848"/>
            <a:ext cx="5120640" cy="292608"/>
          </a:xfrm>
          <a:prstGeom prst="rect">
            <a:avLst/>
          </a:prstGeom>
          <a:noFill/>
        </p:spPr>
        <p:txBody>
          <a:bodyPr wrap="square">
            <a:spAutoFit/>
          </a:bodyPr>
          <a:lstStyle/>
          <a:p>
            <a:pPr algn="l"/>
            <a:r>
              <a:rPr sz="1100" b="0" i="0">
                <a:solidFill>
                  <a:srgbClr val="4A4A6A"/>
                </a:solidFill>
                <a:latin typeface="Calibri"/>
              </a:rPr>
              <a:t>Merge to main, restart server, monitor /api/health &amp; logs.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Maintenance Types — Boehm Classification</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Every change request is categorised before work begins</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g_types.png"/>
          <p:cNvPicPr>
            <a:picLocks noChangeAspect="1"/>
          </p:cNvPicPr>
          <p:nvPr/>
        </p:nvPicPr>
        <p:blipFill>
          <a:blip r:embed="rId2"/>
          <a:stretch>
            <a:fillRect/>
          </a:stretch>
        </p:blipFill>
        <p:spPr>
          <a:xfrm>
            <a:off x="1171341" y="1234440"/>
            <a:ext cx="9846270" cy="54406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Project-Specific Maintenance Activities</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Mapped to Boehm categories for the Digital Twin Health Tracker</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1426464" cy="47548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1371600" cy="384048"/>
          </a:xfrm>
          <a:prstGeom prst="rect">
            <a:avLst/>
          </a:prstGeom>
          <a:noFill/>
        </p:spPr>
        <p:txBody>
          <a:bodyPr wrap="square">
            <a:spAutoFit/>
          </a:bodyPr>
          <a:lstStyle/>
          <a:p>
            <a:pPr algn="ctr"/>
            <a:r>
              <a:rPr sz="1300" b="1" i="0">
                <a:solidFill>
                  <a:srgbClr val="FFFFFF"/>
                </a:solidFill>
                <a:latin typeface="Calibri"/>
              </a:rPr>
              <a:t>Type</a:t>
            </a:r>
          </a:p>
        </p:txBody>
      </p:sp>
      <p:sp>
        <p:nvSpPr>
          <p:cNvPr id="8" name="Rectangle 7"/>
          <p:cNvSpPr/>
          <p:nvPr/>
        </p:nvSpPr>
        <p:spPr>
          <a:xfrm>
            <a:off x="1920240" y="1280160"/>
            <a:ext cx="4078224" cy="47548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60" y="1371600"/>
            <a:ext cx="4023360" cy="384048"/>
          </a:xfrm>
          <a:prstGeom prst="rect">
            <a:avLst/>
          </a:prstGeom>
          <a:noFill/>
        </p:spPr>
        <p:txBody>
          <a:bodyPr wrap="square">
            <a:spAutoFit/>
          </a:bodyPr>
          <a:lstStyle/>
          <a:p>
            <a:pPr algn="ctr"/>
            <a:r>
              <a:rPr sz="1300" b="1" i="0">
                <a:solidFill>
                  <a:srgbClr val="FFFFFF"/>
                </a:solidFill>
                <a:latin typeface="Calibri"/>
              </a:rPr>
              <a:t>Activity</a:t>
            </a:r>
          </a:p>
        </p:txBody>
      </p:sp>
      <p:sp>
        <p:nvSpPr>
          <p:cNvPr id="10" name="Rectangle 9"/>
          <p:cNvSpPr/>
          <p:nvPr/>
        </p:nvSpPr>
        <p:spPr>
          <a:xfrm>
            <a:off x="6035040" y="1280160"/>
            <a:ext cx="3438144" cy="47548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371600"/>
            <a:ext cx="3383280" cy="384048"/>
          </a:xfrm>
          <a:prstGeom prst="rect">
            <a:avLst/>
          </a:prstGeom>
          <a:noFill/>
        </p:spPr>
        <p:txBody>
          <a:bodyPr wrap="square">
            <a:spAutoFit/>
          </a:bodyPr>
          <a:lstStyle/>
          <a:p>
            <a:pPr algn="ctr"/>
            <a:r>
              <a:rPr sz="1300" b="1" i="0">
                <a:solidFill>
                  <a:srgbClr val="FFFFFF"/>
                </a:solidFill>
                <a:latin typeface="Calibri"/>
              </a:rPr>
              <a:t>Module(s) Affected</a:t>
            </a:r>
          </a:p>
        </p:txBody>
      </p:sp>
      <p:sp>
        <p:nvSpPr>
          <p:cNvPr id="12" name="Rectangle 11"/>
          <p:cNvSpPr/>
          <p:nvPr/>
        </p:nvSpPr>
        <p:spPr>
          <a:xfrm>
            <a:off x="9509760" y="1280160"/>
            <a:ext cx="2157984" cy="47548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55480" y="1371600"/>
            <a:ext cx="2103120" cy="384048"/>
          </a:xfrm>
          <a:prstGeom prst="rect">
            <a:avLst/>
          </a:prstGeom>
          <a:noFill/>
        </p:spPr>
        <p:txBody>
          <a:bodyPr wrap="square">
            <a:spAutoFit/>
          </a:bodyPr>
          <a:lstStyle/>
          <a:p>
            <a:pPr algn="ctr"/>
            <a:r>
              <a:rPr sz="1300" b="1" i="0">
                <a:solidFill>
                  <a:srgbClr val="FFFFFF"/>
                </a:solidFill>
                <a:latin typeface="Calibri"/>
              </a:rPr>
              <a:t>Priority</a:t>
            </a:r>
          </a:p>
        </p:txBody>
      </p:sp>
      <p:sp>
        <p:nvSpPr>
          <p:cNvPr id="14" name="Rectangle 13"/>
          <p:cNvSpPr/>
          <p:nvPr/>
        </p:nvSpPr>
        <p:spPr>
          <a:xfrm>
            <a:off x="457200" y="1755648"/>
            <a:ext cx="142646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20240" y="1755648"/>
            <a:ext cx="407822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755648"/>
            <a:ext cx="343814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509760" y="1755648"/>
            <a:ext cx="215798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2920" y="1847088"/>
            <a:ext cx="1325880" cy="2743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 y="1883664"/>
            <a:ext cx="1298448" cy="219456"/>
          </a:xfrm>
          <a:prstGeom prst="rect">
            <a:avLst/>
          </a:prstGeom>
          <a:noFill/>
        </p:spPr>
        <p:txBody>
          <a:bodyPr wrap="square">
            <a:spAutoFit/>
          </a:bodyPr>
          <a:lstStyle/>
          <a:p>
            <a:pPr algn="ctr"/>
            <a:r>
              <a:rPr sz="950" b="1" i="0">
                <a:solidFill>
                  <a:srgbClr val="FFFFFF"/>
                </a:solidFill>
                <a:latin typeface="Calibri"/>
              </a:rPr>
              <a:t>CORRECTIVE</a:t>
            </a:r>
          </a:p>
        </p:txBody>
      </p:sp>
      <p:sp>
        <p:nvSpPr>
          <p:cNvPr id="20" name="TextBox 19"/>
          <p:cNvSpPr txBox="1"/>
          <p:nvPr/>
        </p:nvSpPr>
        <p:spPr>
          <a:xfrm>
            <a:off x="1984248" y="1847088"/>
            <a:ext cx="4005072" cy="338328"/>
          </a:xfrm>
          <a:prstGeom prst="rect">
            <a:avLst/>
          </a:prstGeom>
          <a:noFill/>
        </p:spPr>
        <p:txBody>
          <a:bodyPr wrap="square">
            <a:spAutoFit/>
          </a:bodyPr>
          <a:lstStyle/>
          <a:p>
            <a:pPr algn="l"/>
            <a:r>
              <a:rPr sz="1100" b="0" i="0">
                <a:solidFill>
                  <a:srgbClr val="1A1A2E"/>
                </a:solidFill>
                <a:latin typeface="Calibri"/>
              </a:rPr>
              <a:t>Fix twin-status rating bug (0-total shows 'good')</a:t>
            </a:r>
          </a:p>
        </p:txBody>
      </p:sp>
      <p:sp>
        <p:nvSpPr>
          <p:cNvPr id="21" name="TextBox 20"/>
          <p:cNvSpPr txBox="1"/>
          <p:nvPr/>
        </p:nvSpPr>
        <p:spPr>
          <a:xfrm>
            <a:off x="6099048" y="1847088"/>
            <a:ext cx="3364992" cy="338328"/>
          </a:xfrm>
          <a:prstGeom prst="rect">
            <a:avLst/>
          </a:prstGeom>
          <a:noFill/>
        </p:spPr>
        <p:txBody>
          <a:bodyPr wrap="square">
            <a:spAutoFit/>
          </a:bodyPr>
          <a:lstStyle/>
          <a:p>
            <a:pPr algn="l"/>
            <a:r>
              <a:rPr sz="1050" b="0" i="1">
                <a:solidFill>
                  <a:srgbClr val="4A4A6A"/>
                </a:solidFill>
                <a:latin typeface="Calibri"/>
              </a:rPr>
              <a:t>src/routes/twin.js</a:t>
            </a:r>
          </a:p>
        </p:txBody>
      </p:sp>
      <p:sp>
        <p:nvSpPr>
          <p:cNvPr id="22" name="TextBox 21"/>
          <p:cNvSpPr txBox="1"/>
          <p:nvPr/>
        </p:nvSpPr>
        <p:spPr>
          <a:xfrm>
            <a:off x="9573768" y="1847088"/>
            <a:ext cx="2084832" cy="338328"/>
          </a:xfrm>
          <a:prstGeom prst="rect">
            <a:avLst/>
          </a:prstGeom>
          <a:noFill/>
        </p:spPr>
        <p:txBody>
          <a:bodyPr wrap="square">
            <a:spAutoFit/>
          </a:bodyPr>
          <a:lstStyle/>
          <a:p>
            <a:pPr algn="ctr"/>
            <a:r>
              <a:rPr sz="1100" b="1" i="0">
                <a:solidFill>
                  <a:srgbClr val="B71C1C"/>
                </a:solidFill>
                <a:latin typeface="Calibri"/>
              </a:rPr>
              <a:t>High</a:t>
            </a:r>
          </a:p>
        </p:txBody>
      </p:sp>
      <p:sp>
        <p:nvSpPr>
          <p:cNvPr id="23" name="Rectangle 22"/>
          <p:cNvSpPr/>
          <p:nvPr/>
        </p:nvSpPr>
        <p:spPr>
          <a:xfrm>
            <a:off x="457200" y="2231136"/>
            <a:ext cx="142646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20240" y="2231136"/>
            <a:ext cx="407822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35040" y="2231136"/>
            <a:ext cx="343814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09760" y="2231136"/>
            <a:ext cx="215798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2322576"/>
            <a:ext cx="1325880" cy="2743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2359152"/>
            <a:ext cx="1298448" cy="219456"/>
          </a:xfrm>
          <a:prstGeom prst="rect">
            <a:avLst/>
          </a:prstGeom>
          <a:noFill/>
        </p:spPr>
        <p:txBody>
          <a:bodyPr wrap="square">
            <a:spAutoFit/>
          </a:bodyPr>
          <a:lstStyle/>
          <a:p>
            <a:pPr algn="ctr"/>
            <a:r>
              <a:rPr sz="950" b="1" i="0">
                <a:solidFill>
                  <a:srgbClr val="FFFFFF"/>
                </a:solidFill>
                <a:latin typeface="Calibri"/>
              </a:rPr>
              <a:t>CORRECTIVE</a:t>
            </a:r>
          </a:p>
        </p:txBody>
      </p:sp>
      <p:sp>
        <p:nvSpPr>
          <p:cNvPr id="29" name="TextBox 28"/>
          <p:cNvSpPr txBox="1"/>
          <p:nvPr/>
        </p:nvSpPr>
        <p:spPr>
          <a:xfrm>
            <a:off x="1984248" y="2322576"/>
            <a:ext cx="4005072" cy="338328"/>
          </a:xfrm>
          <a:prstGeom prst="rect">
            <a:avLst/>
          </a:prstGeom>
          <a:noFill/>
        </p:spPr>
        <p:txBody>
          <a:bodyPr wrap="square">
            <a:spAutoFit/>
          </a:bodyPr>
          <a:lstStyle/>
          <a:p>
            <a:pPr algn="l"/>
            <a:r>
              <a:rPr sz="1100" b="0" i="0">
                <a:solidFill>
                  <a:srgbClr val="1A1A2E"/>
                </a:solidFill>
                <a:latin typeface="Calibri"/>
              </a:rPr>
              <a:t>Resolve auth missing-password 400 response</a:t>
            </a:r>
          </a:p>
        </p:txBody>
      </p:sp>
      <p:sp>
        <p:nvSpPr>
          <p:cNvPr id="30" name="TextBox 29"/>
          <p:cNvSpPr txBox="1"/>
          <p:nvPr/>
        </p:nvSpPr>
        <p:spPr>
          <a:xfrm>
            <a:off x="6099048" y="2322576"/>
            <a:ext cx="3364992" cy="338328"/>
          </a:xfrm>
          <a:prstGeom prst="rect">
            <a:avLst/>
          </a:prstGeom>
          <a:noFill/>
        </p:spPr>
        <p:txBody>
          <a:bodyPr wrap="square">
            <a:spAutoFit/>
          </a:bodyPr>
          <a:lstStyle/>
          <a:p>
            <a:pPr algn="l"/>
            <a:r>
              <a:rPr sz="1050" b="0" i="1">
                <a:solidFill>
                  <a:srgbClr val="4A4A6A"/>
                </a:solidFill>
                <a:latin typeface="Calibri"/>
              </a:rPr>
              <a:t>src/routes/users.js</a:t>
            </a:r>
          </a:p>
        </p:txBody>
      </p:sp>
      <p:sp>
        <p:nvSpPr>
          <p:cNvPr id="31" name="TextBox 30"/>
          <p:cNvSpPr txBox="1"/>
          <p:nvPr/>
        </p:nvSpPr>
        <p:spPr>
          <a:xfrm>
            <a:off x="9573768" y="2322576"/>
            <a:ext cx="2084832" cy="338328"/>
          </a:xfrm>
          <a:prstGeom prst="rect">
            <a:avLst/>
          </a:prstGeom>
          <a:noFill/>
        </p:spPr>
        <p:txBody>
          <a:bodyPr wrap="square">
            <a:spAutoFit/>
          </a:bodyPr>
          <a:lstStyle/>
          <a:p>
            <a:pPr algn="ctr"/>
            <a:r>
              <a:rPr sz="1100" b="1" i="0">
                <a:solidFill>
                  <a:srgbClr val="B71C1C"/>
                </a:solidFill>
                <a:latin typeface="Calibri"/>
              </a:rPr>
              <a:t>High</a:t>
            </a:r>
          </a:p>
        </p:txBody>
      </p:sp>
      <p:sp>
        <p:nvSpPr>
          <p:cNvPr id="32" name="Rectangle 31"/>
          <p:cNvSpPr/>
          <p:nvPr/>
        </p:nvSpPr>
        <p:spPr>
          <a:xfrm>
            <a:off x="457200" y="2706624"/>
            <a:ext cx="142646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20240" y="2706624"/>
            <a:ext cx="407822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5040" y="2706624"/>
            <a:ext cx="343814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9760" y="2706624"/>
            <a:ext cx="215798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 y="2798064"/>
            <a:ext cx="1325880" cy="274320"/>
          </a:xfrm>
          <a:prstGeom prst="roundRect">
            <a:avLst/>
          </a:prstGeom>
          <a:solidFill>
            <a:srgbClr val="D9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 y="2834640"/>
            <a:ext cx="1298448" cy="219456"/>
          </a:xfrm>
          <a:prstGeom prst="rect">
            <a:avLst/>
          </a:prstGeom>
          <a:noFill/>
        </p:spPr>
        <p:txBody>
          <a:bodyPr wrap="square">
            <a:spAutoFit/>
          </a:bodyPr>
          <a:lstStyle/>
          <a:p>
            <a:pPr algn="ctr"/>
            <a:r>
              <a:rPr sz="950" b="1" i="0">
                <a:solidFill>
                  <a:srgbClr val="FFFFFF"/>
                </a:solidFill>
                <a:latin typeface="Calibri"/>
              </a:rPr>
              <a:t>ADAPTIVE</a:t>
            </a:r>
          </a:p>
        </p:txBody>
      </p:sp>
      <p:sp>
        <p:nvSpPr>
          <p:cNvPr id="38" name="TextBox 37"/>
          <p:cNvSpPr txBox="1"/>
          <p:nvPr/>
        </p:nvSpPr>
        <p:spPr>
          <a:xfrm>
            <a:off x="1984248" y="2798064"/>
            <a:ext cx="4005072" cy="338328"/>
          </a:xfrm>
          <a:prstGeom prst="rect">
            <a:avLst/>
          </a:prstGeom>
          <a:noFill/>
        </p:spPr>
        <p:txBody>
          <a:bodyPr wrap="square">
            <a:spAutoFit/>
          </a:bodyPr>
          <a:lstStyle/>
          <a:p>
            <a:pPr algn="l"/>
            <a:r>
              <a:rPr sz="1100" b="0" i="0">
                <a:solidFill>
                  <a:srgbClr val="1A1A2E"/>
                </a:solidFill>
                <a:latin typeface="Calibri"/>
              </a:rPr>
              <a:t>Upgrade better-sqlite3 after Node.js v22 release</a:t>
            </a:r>
          </a:p>
        </p:txBody>
      </p:sp>
      <p:sp>
        <p:nvSpPr>
          <p:cNvPr id="39" name="TextBox 38"/>
          <p:cNvSpPr txBox="1"/>
          <p:nvPr/>
        </p:nvSpPr>
        <p:spPr>
          <a:xfrm>
            <a:off x="6099048" y="2798064"/>
            <a:ext cx="3364992" cy="338328"/>
          </a:xfrm>
          <a:prstGeom prst="rect">
            <a:avLst/>
          </a:prstGeom>
          <a:noFill/>
        </p:spPr>
        <p:txBody>
          <a:bodyPr wrap="square">
            <a:spAutoFit/>
          </a:bodyPr>
          <a:lstStyle/>
          <a:p>
            <a:pPr algn="l"/>
            <a:r>
              <a:rPr sz="1050" b="0" i="1">
                <a:solidFill>
                  <a:srgbClr val="4A4A6A"/>
                </a:solidFill>
                <a:latin typeface="Calibri"/>
              </a:rPr>
              <a:t>package.json, database.js</a:t>
            </a:r>
          </a:p>
        </p:txBody>
      </p:sp>
      <p:sp>
        <p:nvSpPr>
          <p:cNvPr id="40" name="TextBox 39"/>
          <p:cNvSpPr txBox="1"/>
          <p:nvPr/>
        </p:nvSpPr>
        <p:spPr>
          <a:xfrm>
            <a:off x="9573768" y="2798064"/>
            <a:ext cx="2084832" cy="338328"/>
          </a:xfrm>
          <a:prstGeom prst="rect">
            <a:avLst/>
          </a:prstGeom>
          <a:noFill/>
        </p:spPr>
        <p:txBody>
          <a:bodyPr wrap="square">
            <a:spAutoFit/>
          </a:bodyPr>
          <a:lstStyle/>
          <a:p>
            <a:pPr algn="ctr"/>
            <a:r>
              <a:rPr sz="1100" b="1" i="0">
                <a:solidFill>
                  <a:srgbClr val="D96B00"/>
                </a:solidFill>
                <a:latin typeface="Calibri"/>
              </a:rPr>
              <a:t>Medium</a:t>
            </a:r>
          </a:p>
        </p:txBody>
      </p:sp>
      <p:sp>
        <p:nvSpPr>
          <p:cNvPr id="41" name="Rectangle 40"/>
          <p:cNvSpPr/>
          <p:nvPr/>
        </p:nvSpPr>
        <p:spPr>
          <a:xfrm>
            <a:off x="457200" y="3182112"/>
            <a:ext cx="142646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20240" y="3182112"/>
            <a:ext cx="407822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035040" y="3182112"/>
            <a:ext cx="343814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09760" y="3182112"/>
            <a:ext cx="215798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02920" y="3273552"/>
            <a:ext cx="1325880" cy="274320"/>
          </a:xfrm>
          <a:prstGeom prst="roundRect">
            <a:avLst/>
          </a:prstGeom>
          <a:solidFill>
            <a:srgbClr val="D9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1208" y="3310128"/>
            <a:ext cx="1298448" cy="219456"/>
          </a:xfrm>
          <a:prstGeom prst="rect">
            <a:avLst/>
          </a:prstGeom>
          <a:noFill/>
        </p:spPr>
        <p:txBody>
          <a:bodyPr wrap="square">
            <a:spAutoFit/>
          </a:bodyPr>
          <a:lstStyle/>
          <a:p>
            <a:pPr algn="ctr"/>
            <a:r>
              <a:rPr sz="950" b="1" i="0">
                <a:solidFill>
                  <a:srgbClr val="FFFFFF"/>
                </a:solidFill>
                <a:latin typeface="Calibri"/>
              </a:rPr>
              <a:t>ADAPTIVE</a:t>
            </a:r>
          </a:p>
        </p:txBody>
      </p:sp>
      <p:sp>
        <p:nvSpPr>
          <p:cNvPr id="47" name="TextBox 46"/>
          <p:cNvSpPr txBox="1"/>
          <p:nvPr/>
        </p:nvSpPr>
        <p:spPr>
          <a:xfrm>
            <a:off x="1984248" y="3273552"/>
            <a:ext cx="4005072" cy="338328"/>
          </a:xfrm>
          <a:prstGeom prst="rect">
            <a:avLst/>
          </a:prstGeom>
          <a:noFill/>
        </p:spPr>
        <p:txBody>
          <a:bodyPr wrap="square">
            <a:spAutoFit/>
          </a:bodyPr>
          <a:lstStyle/>
          <a:p>
            <a:pPr algn="l"/>
            <a:r>
              <a:rPr sz="1100" b="0" i="0">
                <a:solidFill>
                  <a:srgbClr val="1A1A2E"/>
                </a:solidFill>
                <a:latin typeface="Calibri"/>
              </a:rPr>
              <a:t>Ensure Playwright tests pass on latest Chromium</a:t>
            </a:r>
          </a:p>
        </p:txBody>
      </p:sp>
      <p:sp>
        <p:nvSpPr>
          <p:cNvPr id="48" name="TextBox 47"/>
          <p:cNvSpPr txBox="1"/>
          <p:nvPr/>
        </p:nvSpPr>
        <p:spPr>
          <a:xfrm>
            <a:off x="6099048" y="3273552"/>
            <a:ext cx="3364992" cy="338328"/>
          </a:xfrm>
          <a:prstGeom prst="rect">
            <a:avLst/>
          </a:prstGeom>
          <a:noFill/>
        </p:spPr>
        <p:txBody>
          <a:bodyPr wrap="square">
            <a:spAutoFit/>
          </a:bodyPr>
          <a:lstStyle/>
          <a:p>
            <a:pPr algn="l"/>
            <a:r>
              <a:rPr sz="1050" b="0" i="1">
                <a:solidFill>
                  <a:srgbClr val="4A4A6A"/>
                </a:solidFill>
                <a:latin typeface="Calibri"/>
              </a:rPr>
              <a:t>tests-ui/ specs</a:t>
            </a:r>
          </a:p>
        </p:txBody>
      </p:sp>
      <p:sp>
        <p:nvSpPr>
          <p:cNvPr id="49" name="TextBox 48"/>
          <p:cNvSpPr txBox="1"/>
          <p:nvPr/>
        </p:nvSpPr>
        <p:spPr>
          <a:xfrm>
            <a:off x="9573768" y="3273552"/>
            <a:ext cx="2084832" cy="338328"/>
          </a:xfrm>
          <a:prstGeom prst="rect">
            <a:avLst/>
          </a:prstGeom>
          <a:noFill/>
        </p:spPr>
        <p:txBody>
          <a:bodyPr wrap="square">
            <a:spAutoFit/>
          </a:bodyPr>
          <a:lstStyle/>
          <a:p>
            <a:pPr algn="ctr"/>
            <a:r>
              <a:rPr sz="1100" b="1" i="0">
                <a:solidFill>
                  <a:srgbClr val="D96B00"/>
                </a:solidFill>
                <a:latin typeface="Calibri"/>
              </a:rPr>
              <a:t>Medium</a:t>
            </a:r>
          </a:p>
        </p:txBody>
      </p:sp>
      <p:sp>
        <p:nvSpPr>
          <p:cNvPr id="50" name="Rectangle 49"/>
          <p:cNvSpPr/>
          <p:nvPr/>
        </p:nvSpPr>
        <p:spPr>
          <a:xfrm>
            <a:off x="457200" y="3657600"/>
            <a:ext cx="142646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20240" y="3657600"/>
            <a:ext cx="407822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35040" y="3657600"/>
            <a:ext cx="343814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509760" y="3657600"/>
            <a:ext cx="215798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502920" y="3749040"/>
            <a:ext cx="1325880" cy="274320"/>
          </a:xfrm>
          <a:prstGeom prst="roundRect">
            <a:avLst/>
          </a:prstGeom>
          <a:solidFill>
            <a:srgbClr val="1B7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1208" y="3785616"/>
            <a:ext cx="1298448" cy="219456"/>
          </a:xfrm>
          <a:prstGeom prst="rect">
            <a:avLst/>
          </a:prstGeom>
          <a:noFill/>
        </p:spPr>
        <p:txBody>
          <a:bodyPr wrap="square">
            <a:spAutoFit/>
          </a:bodyPr>
          <a:lstStyle/>
          <a:p>
            <a:pPr algn="ctr"/>
            <a:r>
              <a:rPr sz="950" b="1" i="0">
                <a:solidFill>
                  <a:srgbClr val="FFFFFF"/>
                </a:solidFill>
                <a:latin typeface="Calibri"/>
              </a:rPr>
              <a:t>PERFECTIVE</a:t>
            </a:r>
          </a:p>
        </p:txBody>
      </p:sp>
      <p:sp>
        <p:nvSpPr>
          <p:cNvPr id="56" name="TextBox 55"/>
          <p:cNvSpPr txBox="1"/>
          <p:nvPr/>
        </p:nvSpPr>
        <p:spPr>
          <a:xfrm>
            <a:off x="1984248" y="3749040"/>
            <a:ext cx="4005072" cy="338328"/>
          </a:xfrm>
          <a:prstGeom prst="rect">
            <a:avLst/>
          </a:prstGeom>
          <a:noFill/>
        </p:spPr>
        <p:txBody>
          <a:bodyPr wrap="square">
            <a:spAutoFit/>
          </a:bodyPr>
          <a:lstStyle/>
          <a:p>
            <a:pPr algn="l"/>
            <a:r>
              <a:rPr sz="1100" b="0" i="0">
                <a:solidFill>
                  <a:srgbClr val="1A1A2E"/>
                </a:solidFill>
                <a:latin typeface="Calibri"/>
              </a:rPr>
              <a:t>Add weekly trend chart to dashboard</a:t>
            </a:r>
          </a:p>
        </p:txBody>
      </p:sp>
      <p:sp>
        <p:nvSpPr>
          <p:cNvPr id="57" name="TextBox 56"/>
          <p:cNvSpPr txBox="1"/>
          <p:nvPr/>
        </p:nvSpPr>
        <p:spPr>
          <a:xfrm>
            <a:off x="6099048" y="3749040"/>
            <a:ext cx="3364992" cy="338328"/>
          </a:xfrm>
          <a:prstGeom prst="rect">
            <a:avLst/>
          </a:prstGeom>
          <a:noFill/>
        </p:spPr>
        <p:txBody>
          <a:bodyPr wrap="square">
            <a:spAutoFit/>
          </a:bodyPr>
          <a:lstStyle/>
          <a:p>
            <a:pPr algn="l"/>
            <a:r>
              <a:rPr sz="1050" b="0" i="1">
                <a:solidFill>
                  <a:srgbClr val="4A4A6A"/>
                </a:solidFill>
                <a:latin typeface="Calibri"/>
              </a:rPr>
              <a:t>public/js/charts.js</a:t>
            </a:r>
          </a:p>
        </p:txBody>
      </p:sp>
      <p:sp>
        <p:nvSpPr>
          <p:cNvPr id="58" name="TextBox 57"/>
          <p:cNvSpPr txBox="1"/>
          <p:nvPr/>
        </p:nvSpPr>
        <p:spPr>
          <a:xfrm>
            <a:off x="9573768" y="3749040"/>
            <a:ext cx="2084832" cy="338328"/>
          </a:xfrm>
          <a:prstGeom prst="rect">
            <a:avLst/>
          </a:prstGeom>
          <a:noFill/>
        </p:spPr>
        <p:txBody>
          <a:bodyPr wrap="square">
            <a:spAutoFit/>
          </a:bodyPr>
          <a:lstStyle/>
          <a:p>
            <a:pPr algn="ctr"/>
            <a:r>
              <a:rPr sz="1100" b="1" i="0">
                <a:solidFill>
                  <a:srgbClr val="D96B00"/>
                </a:solidFill>
                <a:latin typeface="Calibri"/>
              </a:rPr>
              <a:t>Medium</a:t>
            </a:r>
          </a:p>
        </p:txBody>
      </p:sp>
      <p:sp>
        <p:nvSpPr>
          <p:cNvPr id="59" name="Rectangle 58"/>
          <p:cNvSpPr/>
          <p:nvPr/>
        </p:nvSpPr>
        <p:spPr>
          <a:xfrm>
            <a:off x="457200" y="4133088"/>
            <a:ext cx="142646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920240" y="4133088"/>
            <a:ext cx="407822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035040" y="4133088"/>
            <a:ext cx="343814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09760" y="4133088"/>
            <a:ext cx="215798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502920" y="4224528"/>
            <a:ext cx="1325880" cy="274320"/>
          </a:xfrm>
          <a:prstGeom prst="roundRect">
            <a:avLst/>
          </a:prstGeom>
          <a:solidFill>
            <a:srgbClr val="1B7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21208" y="4261104"/>
            <a:ext cx="1298448" cy="219456"/>
          </a:xfrm>
          <a:prstGeom prst="rect">
            <a:avLst/>
          </a:prstGeom>
          <a:noFill/>
        </p:spPr>
        <p:txBody>
          <a:bodyPr wrap="square">
            <a:spAutoFit/>
          </a:bodyPr>
          <a:lstStyle/>
          <a:p>
            <a:pPr algn="ctr"/>
            <a:r>
              <a:rPr sz="950" b="1" i="0">
                <a:solidFill>
                  <a:srgbClr val="FFFFFF"/>
                </a:solidFill>
                <a:latin typeface="Calibri"/>
              </a:rPr>
              <a:t>PERFECTIVE</a:t>
            </a:r>
          </a:p>
        </p:txBody>
      </p:sp>
      <p:sp>
        <p:nvSpPr>
          <p:cNvPr id="65" name="TextBox 64"/>
          <p:cNvSpPr txBox="1"/>
          <p:nvPr/>
        </p:nvSpPr>
        <p:spPr>
          <a:xfrm>
            <a:off x="1984248" y="4224528"/>
            <a:ext cx="4005072" cy="338328"/>
          </a:xfrm>
          <a:prstGeom prst="rect">
            <a:avLst/>
          </a:prstGeom>
          <a:noFill/>
        </p:spPr>
        <p:txBody>
          <a:bodyPr wrap="square">
            <a:spAutoFit/>
          </a:bodyPr>
          <a:lstStyle/>
          <a:p>
            <a:pPr algn="l"/>
            <a:r>
              <a:rPr sz="1100" b="0" i="0">
                <a:solidFill>
                  <a:srgbClr val="1A1A2E"/>
                </a:solidFill>
                <a:latin typeface="Calibri"/>
              </a:rPr>
              <a:t>Add hydration activity type + seeding data</a:t>
            </a:r>
          </a:p>
        </p:txBody>
      </p:sp>
      <p:sp>
        <p:nvSpPr>
          <p:cNvPr id="66" name="TextBox 65"/>
          <p:cNvSpPr txBox="1"/>
          <p:nvPr/>
        </p:nvSpPr>
        <p:spPr>
          <a:xfrm>
            <a:off x="6099048" y="4224528"/>
            <a:ext cx="3364992" cy="338328"/>
          </a:xfrm>
          <a:prstGeom prst="rect">
            <a:avLst/>
          </a:prstGeom>
          <a:noFill/>
        </p:spPr>
        <p:txBody>
          <a:bodyPr wrap="square">
            <a:spAutoFit/>
          </a:bodyPr>
          <a:lstStyle/>
          <a:p>
            <a:pPr algn="l"/>
            <a:r>
              <a:rPr sz="1050" b="0" i="1">
                <a:solidFill>
                  <a:srgbClr val="4A4A6A"/>
                </a:solidFill>
                <a:latin typeface="Calibri"/>
              </a:rPr>
              <a:t>models/Activity.js, seed.js</a:t>
            </a:r>
          </a:p>
        </p:txBody>
      </p:sp>
      <p:sp>
        <p:nvSpPr>
          <p:cNvPr id="67" name="TextBox 66"/>
          <p:cNvSpPr txBox="1"/>
          <p:nvPr/>
        </p:nvSpPr>
        <p:spPr>
          <a:xfrm>
            <a:off x="9573768" y="4224528"/>
            <a:ext cx="2084832" cy="338328"/>
          </a:xfrm>
          <a:prstGeom prst="rect">
            <a:avLst/>
          </a:prstGeom>
          <a:noFill/>
        </p:spPr>
        <p:txBody>
          <a:bodyPr wrap="square">
            <a:spAutoFit/>
          </a:bodyPr>
          <a:lstStyle/>
          <a:p>
            <a:pPr algn="ctr"/>
            <a:r>
              <a:rPr sz="1100" b="1" i="0">
                <a:solidFill>
                  <a:srgbClr val="1B7A3B"/>
                </a:solidFill>
                <a:latin typeface="Calibri"/>
              </a:rPr>
              <a:t>Low</a:t>
            </a:r>
          </a:p>
        </p:txBody>
      </p:sp>
      <p:sp>
        <p:nvSpPr>
          <p:cNvPr id="68" name="Rectangle 67"/>
          <p:cNvSpPr/>
          <p:nvPr/>
        </p:nvSpPr>
        <p:spPr>
          <a:xfrm>
            <a:off x="457200" y="4608576"/>
            <a:ext cx="142646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920240" y="4608576"/>
            <a:ext cx="407822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35040" y="4608576"/>
            <a:ext cx="343814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509760" y="4608576"/>
            <a:ext cx="2157984" cy="462788"/>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02920" y="4700016"/>
            <a:ext cx="1325880" cy="27432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21208" y="4736592"/>
            <a:ext cx="1298448" cy="219456"/>
          </a:xfrm>
          <a:prstGeom prst="rect">
            <a:avLst/>
          </a:prstGeom>
          <a:noFill/>
        </p:spPr>
        <p:txBody>
          <a:bodyPr wrap="square">
            <a:spAutoFit/>
          </a:bodyPr>
          <a:lstStyle/>
          <a:p>
            <a:pPr algn="ctr"/>
            <a:r>
              <a:rPr sz="950" b="1" i="0">
                <a:solidFill>
                  <a:srgbClr val="FFFFFF"/>
                </a:solidFill>
                <a:latin typeface="Calibri"/>
              </a:rPr>
              <a:t>PREVENTIVE</a:t>
            </a:r>
          </a:p>
        </p:txBody>
      </p:sp>
      <p:sp>
        <p:nvSpPr>
          <p:cNvPr id="74" name="TextBox 73"/>
          <p:cNvSpPr txBox="1"/>
          <p:nvPr/>
        </p:nvSpPr>
        <p:spPr>
          <a:xfrm>
            <a:off x="1984248" y="4700016"/>
            <a:ext cx="4005072" cy="338328"/>
          </a:xfrm>
          <a:prstGeom prst="rect">
            <a:avLst/>
          </a:prstGeom>
          <a:noFill/>
        </p:spPr>
        <p:txBody>
          <a:bodyPr wrap="square">
            <a:spAutoFit/>
          </a:bodyPr>
          <a:lstStyle/>
          <a:p>
            <a:pPr algn="l"/>
            <a:r>
              <a:rPr sz="1100" b="0" i="0">
                <a:solidFill>
                  <a:srgbClr val="1A1A2E"/>
                </a:solidFill>
                <a:latin typeface="Calibri"/>
              </a:rPr>
              <a:t>Increase API test coverage to 80%+</a:t>
            </a:r>
          </a:p>
        </p:txBody>
      </p:sp>
      <p:sp>
        <p:nvSpPr>
          <p:cNvPr id="75" name="TextBox 74"/>
          <p:cNvSpPr txBox="1"/>
          <p:nvPr/>
        </p:nvSpPr>
        <p:spPr>
          <a:xfrm>
            <a:off x="6099048" y="4700016"/>
            <a:ext cx="3364992" cy="338328"/>
          </a:xfrm>
          <a:prstGeom prst="rect">
            <a:avLst/>
          </a:prstGeom>
          <a:noFill/>
        </p:spPr>
        <p:txBody>
          <a:bodyPr wrap="square">
            <a:spAutoFit/>
          </a:bodyPr>
          <a:lstStyle/>
          <a:p>
            <a:pPr algn="l"/>
            <a:r>
              <a:rPr sz="1050" b="0" i="1">
                <a:solidFill>
                  <a:srgbClr val="4A4A6A"/>
                </a:solidFill>
                <a:latin typeface="Calibri"/>
              </a:rPr>
              <a:t>tests/api.test.js</a:t>
            </a:r>
          </a:p>
        </p:txBody>
      </p:sp>
      <p:sp>
        <p:nvSpPr>
          <p:cNvPr id="76" name="TextBox 75"/>
          <p:cNvSpPr txBox="1"/>
          <p:nvPr/>
        </p:nvSpPr>
        <p:spPr>
          <a:xfrm>
            <a:off x="9573768" y="4700016"/>
            <a:ext cx="2084832" cy="338328"/>
          </a:xfrm>
          <a:prstGeom prst="rect">
            <a:avLst/>
          </a:prstGeom>
          <a:noFill/>
        </p:spPr>
        <p:txBody>
          <a:bodyPr wrap="square">
            <a:spAutoFit/>
          </a:bodyPr>
          <a:lstStyle/>
          <a:p>
            <a:pPr algn="ctr"/>
            <a:r>
              <a:rPr sz="1100" b="1" i="0">
                <a:solidFill>
                  <a:srgbClr val="D96B00"/>
                </a:solidFill>
                <a:latin typeface="Calibri"/>
              </a:rPr>
              <a:t>Medium</a:t>
            </a:r>
          </a:p>
        </p:txBody>
      </p:sp>
      <p:sp>
        <p:nvSpPr>
          <p:cNvPr id="77" name="Rectangle 76"/>
          <p:cNvSpPr/>
          <p:nvPr/>
        </p:nvSpPr>
        <p:spPr>
          <a:xfrm>
            <a:off x="457200" y="5084064"/>
            <a:ext cx="142646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920240" y="5084064"/>
            <a:ext cx="407822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035040" y="5084064"/>
            <a:ext cx="343814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509760" y="5084064"/>
            <a:ext cx="2157984" cy="4627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502920" y="5175504"/>
            <a:ext cx="1325880" cy="27432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21208" y="5212080"/>
            <a:ext cx="1298448" cy="219456"/>
          </a:xfrm>
          <a:prstGeom prst="rect">
            <a:avLst/>
          </a:prstGeom>
          <a:noFill/>
        </p:spPr>
        <p:txBody>
          <a:bodyPr wrap="square">
            <a:spAutoFit/>
          </a:bodyPr>
          <a:lstStyle/>
          <a:p>
            <a:pPr algn="ctr"/>
            <a:r>
              <a:rPr sz="950" b="1" i="0">
                <a:solidFill>
                  <a:srgbClr val="FFFFFF"/>
                </a:solidFill>
                <a:latin typeface="Calibri"/>
              </a:rPr>
              <a:t>PREVENTIVE</a:t>
            </a:r>
          </a:p>
        </p:txBody>
      </p:sp>
      <p:sp>
        <p:nvSpPr>
          <p:cNvPr id="83" name="TextBox 82"/>
          <p:cNvSpPr txBox="1"/>
          <p:nvPr/>
        </p:nvSpPr>
        <p:spPr>
          <a:xfrm>
            <a:off x="1984248" y="5175504"/>
            <a:ext cx="4005072" cy="338328"/>
          </a:xfrm>
          <a:prstGeom prst="rect">
            <a:avLst/>
          </a:prstGeom>
          <a:noFill/>
        </p:spPr>
        <p:txBody>
          <a:bodyPr wrap="square">
            <a:spAutoFit/>
          </a:bodyPr>
          <a:lstStyle/>
          <a:p>
            <a:pPr algn="l"/>
            <a:r>
              <a:rPr sz="1100" b="0" i="0">
                <a:solidFill>
                  <a:srgbClr val="1A1A2E"/>
                </a:solidFill>
                <a:latin typeface="Calibri"/>
              </a:rPr>
              <a:t>Refactor middleware to reduce code duplication</a:t>
            </a:r>
          </a:p>
        </p:txBody>
      </p:sp>
      <p:sp>
        <p:nvSpPr>
          <p:cNvPr id="84" name="TextBox 83"/>
          <p:cNvSpPr txBox="1"/>
          <p:nvPr/>
        </p:nvSpPr>
        <p:spPr>
          <a:xfrm>
            <a:off x="6099048" y="5175504"/>
            <a:ext cx="3364992" cy="338328"/>
          </a:xfrm>
          <a:prstGeom prst="rect">
            <a:avLst/>
          </a:prstGeom>
          <a:noFill/>
        </p:spPr>
        <p:txBody>
          <a:bodyPr wrap="square">
            <a:spAutoFit/>
          </a:bodyPr>
          <a:lstStyle/>
          <a:p>
            <a:pPr algn="l"/>
            <a:r>
              <a:rPr sz="1050" b="0" i="1">
                <a:solidFill>
                  <a:srgbClr val="4A4A6A"/>
                </a:solidFill>
                <a:latin typeface="Calibri"/>
              </a:rPr>
              <a:t>src/middleware/</a:t>
            </a:r>
          </a:p>
        </p:txBody>
      </p:sp>
      <p:sp>
        <p:nvSpPr>
          <p:cNvPr id="85" name="TextBox 84"/>
          <p:cNvSpPr txBox="1"/>
          <p:nvPr/>
        </p:nvSpPr>
        <p:spPr>
          <a:xfrm>
            <a:off x="9573768" y="5175504"/>
            <a:ext cx="2084832" cy="338328"/>
          </a:xfrm>
          <a:prstGeom prst="rect">
            <a:avLst/>
          </a:prstGeom>
          <a:noFill/>
        </p:spPr>
        <p:txBody>
          <a:bodyPr wrap="square">
            <a:spAutoFit/>
          </a:bodyPr>
          <a:lstStyle/>
          <a:p>
            <a:pPr algn="ctr"/>
            <a:r>
              <a:rPr sz="1100" b="1" i="0">
                <a:solidFill>
                  <a:srgbClr val="1B7A3B"/>
                </a:solidFill>
                <a:latin typeface="Calibri"/>
              </a:rPr>
              <a:t>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Maintenance Timeline &amp; Release Phases</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Planned phases following initial deployment</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g_timeline.png"/>
          <p:cNvPicPr>
            <a:picLocks noChangeAspect="1"/>
          </p:cNvPicPr>
          <p:nvPr/>
        </p:nvPicPr>
        <p:blipFill>
          <a:blip r:embed="rId2"/>
          <a:stretch>
            <a:fillRect/>
          </a:stretch>
        </p:blipFill>
        <p:spPr>
          <a:xfrm>
            <a:off x="274320" y="1280160"/>
            <a:ext cx="11612880" cy="529753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System Architecture — Maintenance Scope</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Components requiring active maintenance attention</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g_arch.png"/>
          <p:cNvPicPr>
            <a:picLocks noChangeAspect="1"/>
          </p:cNvPicPr>
          <p:nvPr/>
        </p:nvPicPr>
        <p:blipFill>
          <a:blip r:embed="rId2"/>
          <a:stretch>
            <a:fillRect/>
          </a:stretch>
        </p:blipFill>
        <p:spPr>
          <a:xfrm>
            <a:off x="274320" y="1188720"/>
            <a:ext cx="11612880" cy="624558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Maintenance Tools &amp; Procedures</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Standard toolchain used across all maintenance phases</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35380"/>
            <a:ext cx="73152" cy="6736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335380"/>
            <a:ext cx="5623560" cy="673608"/>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73988"/>
            <a:ext cx="2560320" cy="292608"/>
          </a:xfrm>
          <a:prstGeom prst="rect">
            <a:avLst/>
          </a:prstGeom>
          <a:noFill/>
        </p:spPr>
        <p:txBody>
          <a:bodyPr wrap="square">
            <a:spAutoFit/>
          </a:bodyPr>
          <a:lstStyle/>
          <a:p>
            <a:pPr algn="l"/>
            <a:r>
              <a:rPr sz="1300" b="1" i="0">
                <a:solidFill>
                  <a:srgbClr val="1F3A5F"/>
                </a:solidFill>
                <a:latin typeface="Calibri"/>
              </a:rPr>
              <a:t>Version Control</a:t>
            </a:r>
          </a:p>
        </p:txBody>
      </p:sp>
      <p:sp>
        <p:nvSpPr>
          <p:cNvPr id="9" name="TextBox 8"/>
          <p:cNvSpPr txBox="1"/>
          <p:nvPr/>
        </p:nvSpPr>
        <p:spPr>
          <a:xfrm>
            <a:off x="3383280" y="1373988"/>
            <a:ext cx="2651760" cy="292608"/>
          </a:xfrm>
          <a:prstGeom prst="rect">
            <a:avLst/>
          </a:prstGeom>
          <a:noFill/>
        </p:spPr>
        <p:txBody>
          <a:bodyPr wrap="square">
            <a:spAutoFit/>
          </a:bodyPr>
          <a:lstStyle/>
          <a:p>
            <a:pPr algn="l"/>
            <a:r>
              <a:rPr sz="1200" b="1" i="0">
                <a:solidFill>
                  <a:srgbClr val="1F3A5F"/>
                </a:solidFill>
                <a:latin typeface="Calibri"/>
              </a:rPr>
              <a:t>[Git]</a:t>
            </a:r>
          </a:p>
        </p:txBody>
      </p:sp>
      <p:sp>
        <p:nvSpPr>
          <p:cNvPr id="10" name="TextBox 9"/>
          <p:cNvSpPr txBox="1"/>
          <p:nvPr/>
        </p:nvSpPr>
        <p:spPr>
          <a:xfrm>
            <a:off x="658368" y="1657452"/>
            <a:ext cx="5440680" cy="347472"/>
          </a:xfrm>
          <a:prstGeom prst="rect">
            <a:avLst/>
          </a:prstGeom>
          <a:noFill/>
        </p:spPr>
        <p:txBody>
          <a:bodyPr wrap="square">
            <a:spAutoFit/>
          </a:bodyPr>
          <a:lstStyle/>
          <a:p>
            <a:pPr algn="l"/>
            <a:r>
              <a:rPr sz="1100" b="0" i="0">
                <a:solidFill>
                  <a:srgbClr val="4A4A6A"/>
                </a:solidFill>
                <a:latin typeface="Calibri"/>
              </a:rPr>
              <a:t>Feature branches, PR reviews, tags per release. Rollback via git revert.</a:t>
            </a:r>
          </a:p>
        </p:txBody>
      </p:sp>
      <p:sp>
        <p:nvSpPr>
          <p:cNvPr id="11" name="Rectangle 10"/>
          <p:cNvSpPr/>
          <p:nvPr/>
        </p:nvSpPr>
        <p:spPr>
          <a:xfrm>
            <a:off x="6355080" y="1335380"/>
            <a:ext cx="73152" cy="673608"/>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1335380"/>
            <a:ext cx="5623560" cy="673608"/>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1373988"/>
            <a:ext cx="2560320" cy="292608"/>
          </a:xfrm>
          <a:prstGeom prst="rect">
            <a:avLst/>
          </a:prstGeom>
          <a:noFill/>
        </p:spPr>
        <p:txBody>
          <a:bodyPr wrap="square">
            <a:spAutoFit/>
          </a:bodyPr>
          <a:lstStyle/>
          <a:p>
            <a:pPr algn="l"/>
            <a:r>
              <a:rPr sz="1300" b="1" i="0">
                <a:solidFill>
                  <a:srgbClr val="1F3A5F"/>
                </a:solidFill>
                <a:latin typeface="Calibri"/>
              </a:rPr>
              <a:t>Bug Tracking</a:t>
            </a:r>
          </a:p>
        </p:txBody>
      </p:sp>
      <p:sp>
        <p:nvSpPr>
          <p:cNvPr id="14" name="TextBox 13"/>
          <p:cNvSpPr txBox="1"/>
          <p:nvPr/>
        </p:nvSpPr>
        <p:spPr>
          <a:xfrm>
            <a:off x="9281160" y="1373988"/>
            <a:ext cx="2651760" cy="292608"/>
          </a:xfrm>
          <a:prstGeom prst="rect">
            <a:avLst/>
          </a:prstGeom>
          <a:noFill/>
        </p:spPr>
        <p:txBody>
          <a:bodyPr wrap="square">
            <a:spAutoFit/>
          </a:bodyPr>
          <a:lstStyle/>
          <a:p>
            <a:pPr algn="l"/>
            <a:r>
              <a:rPr sz="1200" b="1" i="0">
                <a:solidFill>
                  <a:srgbClr val="B71C1C"/>
                </a:solidFill>
                <a:latin typeface="Calibri"/>
              </a:rPr>
              <a:t>[GitHub Issues]</a:t>
            </a:r>
          </a:p>
        </p:txBody>
      </p:sp>
      <p:sp>
        <p:nvSpPr>
          <p:cNvPr id="15" name="TextBox 14"/>
          <p:cNvSpPr txBox="1"/>
          <p:nvPr/>
        </p:nvSpPr>
        <p:spPr>
          <a:xfrm>
            <a:off x="6556248" y="1657452"/>
            <a:ext cx="5440680" cy="347472"/>
          </a:xfrm>
          <a:prstGeom prst="rect">
            <a:avLst/>
          </a:prstGeom>
          <a:noFill/>
        </p:spPr>
        <p:txBody>
          <a:bodyPr wrap="square">
            <a:spAutoFit/>
          </a:bodyPr>
          <a:lstStyle/>
          <a:p>
            <a:pPr algn="l"/>
            <a:r>
              <a:rPr sz="1100" b="0" i="0">
                <a:solidFill>
                  <a:srgbClr val="4A4A6A"/>
                </a:solidFill>
                <a:latin typeface="Calibri"/>
              </a:rPr>
              <a:t>Issues labelled corrective/adaptive/perfective/preventive before sprint.</a:t>
            </a:r>
          </a:p>
        </p:txBody>
      </p:sp>
      <p:sp>
        <p:nvSpPr>
          <p:cNvPr id="16" name="Rectangle 15"/>
          <p:cNvSpPr/>
          <p:nvPr/>
        </p:nvSpPr>
        <p:spPr>
          <a:xfrm>
            <a:off x="457200" y="3176253"/>
            <a:ext cx="73152" cy="673608"/>
          </a:xfrm>
          <a:prstGeom prst="rect">
            <a:avLst/>
          </a:prstGeom>
          <a:solidFill>
            <a:srgbClr val="D9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176253"/>
            <a:ext cx="5623560" cy="673608"/>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214861"/>
            <a:ext cx="2560320" cy="292608"/>
          </a:xfrm>
          <a:prstGeom prst="rect">
            <a:avLst/>
          </a:prstGeom>
          <a:noFill/>
        </p:spPr>
        <p:txBody>
          <a:bodyPr wrap="square">
            <a:spAutoFit/>
          </a:bodyPr>
          <a:lstStyle/>
          <a:p>
            <a:pPr algn="l"/>
            <a:r>
              <a:rPr sz="1300" b="1" i="0">
                <a:solidFill>
                  <a:srgbClr val="1F3A5F"/>
                </a:solidFill>
                <a:latin typeface="Calibri"/>
              </a:rPr>
              <a:t>API Testing</a:t>
            </a:r>
          </a:p>
        </p:txBody>
      </p:sp>
      <p:sp>
        <p:nvSpPr>
          <p:cNvPr id="19" name="TextBox 18"/>
          <p:cNvSpPr txBox="1"/>
          <p:nvPr/>
        </p:nvSpPr>
        <p:spPr>
          <a:xfrm>
            <a:off x="3383280" y="3214861"/>
            <a:ext cx="2651760" cy="292608"/>
          </a:xfrm>
          <a:prstGeom prst="rect">
            <a:avLst/>
          </a:prstGeom>
          <a:noFill/>
        </p:spPr>
        <p:txBody>
          <a:bodyPr wrap="square">
            <a:spAutoFit/>
          </a:bodyPr>
          <a:lstStyle/>
          <a:p>
            <a:pPr algn="l"/>
            <a:r>
              <a:rPr sz="1200" b="1" i="0">
                <a:solidFill>
                  <a:srgbClr val="D96B00"/>
                </a:solidFill>
                <a:latin typeface="Calibri"/>
              </a:rPr>
              <a:t>[Node Test Runner]</a:t>
            </a:r>
          </a:p>
        </p:txBody>
      </p:sp>
      <p:sp>
        <p:nvSpPr>
          <p:cNvPr id="20" name="TextBox 19"/>
          <p:cNvSpPr txBox="1"/>
          <p:nvPr/>
        </p:nvSpPr>
        <p:spPr>
          <a:xfrm>
            <a:off x="658368" y="3498325"/>
            <a:ext cx="5440680" cy="347472"/>
          </a:xfrm>
          <a:prstGeom prst="rect">
            <a:avLst/>
          </a:prstGeom>
          <a:noFill/>
        </p:spPr>
        <p:txBody>
          <a:bodyPr wrap="square">
            <a:spAutoFit/>
          </a:bodyPr>
          <a:lstStyle/>
          <a:p>
            <a:pPr algn="l"/>
            <a:r>
              <a:rPr sz="1100" b="0" i="0">
                <a:solidFill>
                  <a:srgbClr val="4A4A6A"/>
                </a:solidFill>
                <a:latin typeface="Calibri"/>
              </a:rPr>
              <a:t>tests/api.test.js — run npm test. Target: &gt;80% route coverage.</a:t>
            </a:r>
          </a:p>
        </p:txBody>
      </p:sp>
      <p:sp>
        <p:nvSpPr>
          <p:cNvPr id="21" name="Rectangle 20"/>
          <p:cNvSpPr/>
          <p:nvPr/>
        </p:nvSpPr>
        <p:spPr>
          <a:xfrm>
            <a:off x="6355080" y="3176253"/>
            <a:ext cx="73152" cy="673608"/>
          </a:xfrm>
          <a:prstGeom prst="rect">
            <a:avLst/>
          </a:prstGeom>
          <a:solidFill>
            <a:srgbClr val="1B7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46520" y="3176253"/>
            <a:ext cx="5623560" cy="673608"/>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3214861"/>
            <a:ext cx="2560320" cy="292608"/>
          </a:xfrm>
          <a:prstGeom prst="rect">
            <a:avLst/>
          </a:prstGeom>
          <a:noFill/>
        </p:spPr>
        <p:txBody>
          <a:bodyPr wrap="square">
            <a:spAutoFit/>
          </a:bodyPr>
          <a:lstStyle/>
          <a:p>
            <a:pPr algn="l"/>
            <a:r>
              <a:rPr sz="1300" b="1" i="0">
                <a:solidFill>
                  <a:srgbClr val="1F3A5F"/>
                </a:solidFill>
                <a:latin typeface="Calibri"/>
              </a:rPr>
              <a:t>UI Testing</a:t>
            </a:r>
          </a:p>
        </p:txBody>
      </p:sp>
      <p:sp>
        <p:nvSpPr>
          <p:cNvPr id="24" name="TextBox 23"/>
          <p:cNvSpPr txBox="1"/>
          <p:nvPr/>
        </p:nvSpPr>
        <p:spPr>
          <a:xfrm>
            <a:off x="9281160" y="3214861"/>
            <a:ext cx="2651760" cy="292608"/>
          </a:xfrm>
          <a:prstGeom prst="rect">
            <a:avLst/>
          </a:prstGeom>
          <a:noFill/>
        </p:spPr>
        <p:txBody>
          <a:bodyPr wrap="square">
            <a:spAutoFit/>
          </a:bodyPr>
          <a:lstStyle/>
          <a:p>
            <a:pPr algn="l"/>
            <a:r>
              <a:rPr sz="1200" b="1" i="0">
                <a:solidFill>
                  <a:srgbClr val="1B7A3B"/>
                </a:solidFill>
                <a:latin typeface="Calibri"/>
              </a:rPr>
              <a:t>[Playwright]</a:t>
            </a:r>
          </a:p>
        </p:txBody>
      </p:sp>
      <p:sp>
        <p:nvSpPr>
          <p:cNvPr id="25" name="TextBox 24"/>
          <p:cNvSpPr txBox="1"/>
          <p:nvPr/>
        </p:nvSpPr>
        <p:spPr>
          <a:xfrm>
            <a:off x="6556248" y="3498325"/>
            <a:ext cx="5440680" cy="347472"/>
          </a:xfrm>
          <a:prstGeom prst="rect">
            <a:avLst/>
          </a:prstGeom>
          <a:noFill/>
        </p:spPr>
        <p:txBody>
          <a:bodyPr wrap="square">
            <a:spAutoFit/>
          </a:bodyPr>
          <a:lstStyle/>
          <a:p>
            <a:pPr algn="l"/>
            <a:r>
              <a:rPr sz="1100" b="0" i="0">
                <a:solidFill>
                  <a:srgbClr val="4A4A6A"/>
                </a:solidFill>
                <a:latin typeface="Calibri"/>
              </a:rPr>
              <a:t>tests-ui/ specs (auth, dashboard, activities). Run npm run test:ui.</a:t>
            </a:r>
          </a:p>
        </p:txBody>
      </p:sp>
      <p:sp>
        <p:nvSpPr>
          <p:cNvPr id="26" name="Rectangle 25"/>
          <p:cNvSpPr/>
          <p:nvPr/>
        </p:nvSpPr>
        <p:spPr>
          <a:xfrm>
            <a:off x="457200" y="5017126"/>
            <a:ext cx="73152" cy="673608"/>
          </a:xfrm>
          <a:prstGeom prst="rect">
            <a:avLst/>
          </a:prstGeom>
          <a:solidFill>
            <a:srgbClr val="2E6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48640" y="5017126"/>
            <a:ext cx="5623560" cy="673608"/>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055734"/>
            <a:ext cx="2560320" cy="292608"/>
          </a:xfrm>
          <a:prstGeom prst="rect">
            <a:avLst/>
          </a:prstGeom>
          <a:noFill/>
        </p:spPr>
        <p:txBody>
          <a:bodyPr wrap="square">
            <a:spAutoFit/>
          </a:bodyPr>
          <a:lstStyle/>
          <a:p>
            <a:pPr algn="l"/>
            <a:r>
              <a:rPr sz="1300" b="1" i="0">
                <a:solidFill>
                  <a:srgbClr val="1F3A5F"/>
                </a:solidFill>
                <a:latin typeface="Calibri"/>
              </a:rPr>
              <a:t>Monitoring</a:t>
            </a:r>
          </a:p>
        </p:txBody>
      </p:sp>
      <p:sp>
        <p:nvSpPr>
          <p:cNvPr id="29" name="TextBox 28"/>
          <p:cNvSpPr txBox="1"/>
          <p:nvPr/>
        </p:nvSpPr>
        <p:spPr>
          <a:xfrm>
            <a:off x="3383280" y="5055734"/>
            <a:ext cx="2651760" cy="292608"/>
          </a:xfrm>
          <a:prstGeom prst="rect">
            <a:avLst/>
          </a:prstGeom>
          <a:noFill/>
        </p:spPr>
        <p:txBody>
          <a:bodyPr wrap="square">
            <a:spAutoFit/>
          </a:bodyPr>
          <a:lstStyle/>
          <a:p>
            <a:pPr algn="l"/>
            <a:r>
              <a:rPr sz="1200" b="1" i="0">
                <a:solidFill>
                  <a:srgbClr val="2E6DA8"/>
                </a:solidFill>
                <a:latin typeface="Calibri"/>
              </a:rPr>
              <a:t>[/api/health + Logs]</a:t>
            </a:r>
          </a:p>
        </p:txBody>
      </p:sp>
      <p:sp>
        <p:nvSpPr>
          <p:cNvPr id="30" name="TextBox 29"/>
          <p:cNvSpPr txBox="1"/>
          <p:nvPr/>
        </p:nvSpPr>
        <p:spPr>
          <a:xfrm>
            <a:off x="658368" y="5339198"/>
            <a:ext cx="5440680" cy="347472"/>
          </a:xfrm>
          <a:prstGeom prst="rect">
            <a:avLst/>
          </a:prstGeom>
          <a:noFill/>
        </p:spPr>
        <p:txBody>
          <a:bodyPr wrap="square">
            <a:spAutoFit/>
          </a:bodyPr>
          <a:lstStyle/>
          <a:p>
            <a:pPr algn="l"/>
            <a:r>
              <a:rPr sz="1100" b="0" i="0">
                <a:solidFill>
                  <a:srgbClr val="4A4A6A"/>
                </a:solidFill>
                <a:latin typeface="Calibri"/>
              </a:rPr>
              <a:t>Health endpoint polled every 60s. Error middleware logs to stdout.</a:t>
            </a:r>
          </a:p>
        </p:txBody>
      </p:sp>
      <p:sp>
        <p:nvSpPr>
          <p:cNvPr id="31" name="Rectangle 30"/>
          <p:cNvSpPr/>
          <p:nvPr/>
        </p:nvSpPr>
        <p:spPr>
          <a:xfrm>
            <a:off x="6355080" y="5017126"/>
            <a:ext cx="73152" cy="673608"/>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46520" y="5017126"/>
            <a:ext cx="5623560" cy="673608"/>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6248" y="5055734"/>
            <a:ext cx="2560320" cy="292608"/>
          </a:xfrm>
          <a:prstGeom prst="rect">
            <a:avLst/>
          </a:prstGeom>
          <a:noFill/>
        </p:spPr>
        <p:txBody>
          <a:bodyPr wrap="square">
            <a:spAutoFit/>
          </a:bodyPr>
          <a:lstStyle/>
          <a:p>
            <a:pPr algn="l"/>
            <a:r>
              <a:rPr sz="1300" b="1" i="0">
                <a:solidFill>
                  <a:srgbClr val="1F3A5F"/>
                </a:solidFill>
                <a:latin typeface="Calibri"/>
              </a:rPr>
              <a:t>Documentation</a:t>
            </a:r>
          </a:p>
        </p:txBody>
      </p:sp>
      <p:sp>
        <p:nvSpPr>
          <p:cNvPr id="34" name="TextBox 33"/>
          <p:cNvSpPr txBox="1"/>
          <p:nvPr/>
        </p:nvSpPr>
        <p:spPr>
          <a:xfrm>
            <a:off x="9281160" y="5055734"/>
            <a:ext cx="2651760" cy="292608"/>
          </a:xfrm>
          <a:prstGeom prst="rect">
            <a:avLst/>
          </a:prstGeom>
          <a:noFill/>
        </p:spPr>
        <p:txBody>
          <a:bodyPr wrap="square">
            <a:spAutoFit/>
          </a:bodyPr>
          <a:lstStyle/>
          <a:p>
            <a:pPr algn="l"/>
            <a:r>
              <a:rPr sz="1200" b="1" i="0">
                <a:solidFill>
                  <a:srgbClr val="6A1B9A"/>
                </a:solidFill>
                <a:latin typeface="Calibri"/>
              </a:rPr>
              <a:t>[README + JSDoc]</a:t>
            </a:r>
          </a:p>
        </p:txBody>
      </p:sp>
      <p:sp>
        <p:nvSpPr>
          <p:cNvPr id="35" name="TextBox 34"/>
          <p:cNvSpPr txBox="1"/>
          <p:nvPr/>
        </p:nvSpPr>
        <p:spPr>
          <a:xfrm>
            <a:off x="6556248" y="5339198"/>
            <a:ext cx="5440680" cy="347472"/>
          </a:xfrm>
          <a:prstGeom prst="rect">
            <a:avLst/>
          </a:prstGeom>
          <a:noFill/>
        </p:spPr>
        <p:txBody>
          <a:bodyPr wrap="square">
            <a:spAutoFit/>
          </a:bodyPr>
          <a:lstStyle/>
          <a:p>
            <a:pPr algn="l"/>
            <a:r>
              <a:rPr sz="1100" b="0" i="0">
                <a:solidFill>
                  <a:srgbClr val="4A4A6A"/>
                </a:solidFill>
                <a:latin typeface="Calibri"/>
              </a:rPr>
              <a:t>Setup guide, API reference, and inline comments kept up-to-date.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430000" cy="822960"/>
          </a:xfrm>
          <a:prstGeom prst="rect">
            <a:avLst/>
          </a:prstGeom>
          <a:noFill/>
        </p:spPr>
        <p:txBody>
          <a:bodyPr wrap="square">
            <a:spAutoFit/>
          </a:bodyPr>
          <a:lstStyle/>
          <a:p>
            <a:pPr algn="l"/>
            <a:r>
              <a:rPr sz="2800" b="1" i="0">
                <a:solidFill>
                  <a:srgbClr val="FFFFFF"/>
                </a:solidFill>
                <a:latin typeface="Calibri"/>
              </a:rPr>
              <a:t>Conclusion</a:t>
            </a:r>
          </a:p>
        </p:txBody>
      </p:sp>
      <p:sp>
        <p:nvSpPr>
          <p:cNvPr id="4" name="TextBox 3"/>
          <p:cNvSpPr txBox="1"/>
          <p:nvPr/>
        </p:nvSpPr>
        <p:spPr>
          <a:xfrm>
            <a:off x="457200" y="713232"/>
            <a:ext cx="11430000" cy="365760"/>
          </a:xfrm>
          <a:prstGeom prst="rect">
            <a:avLst/>
          </a:prstGeom>
          <a:noFill/>
        </p:spPr>
        <p:txBody>
          <a:bodyPr wrap="square">
            <a:spAutoFit/>
          </a:bodyPr>
          <a:lstStyle/>
          <a:p>
            <a:pPr algn="l"/>
            <a:r>
              <a:rPr sz="1300" b="0" i="0">
                <a:solidFill>
                  <a:srgbClr val="B0C8F0"/>
                </a:solidFill>
                <a:latin typeface="Calibri"/>
              </a:rPr>
              <a:t>Summary of the Maintenance Process Model for Digital Twin Health Activity Tracker</a:t>
            </a:r>
          </a:p>
        </p:txBody>
      </p:sp>
      <p:sp>
        <p:nvSpPr>
          <p:cNvPr id="5" name="Rectangle 4"/>
          <p:cNvSpPr/>
          <p:nvPr/>
        </p:nvSpPr>
        <p:spPr>
          <a:xfrm>
            <a:off x="0" y="1097280"/>
            <a:ext cx="12188952" cy="381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280160"/>
            <a:ext cx="11247120" cy="1005840"/>
          </a:xfrm>
          <a:prstGeom prst="roundRect">
            <a:avLst/>
          </a:prstGeom>
          <a:solidFill>
            <a:srgbClr val="F4F7FB"/>
          </a:solidFill>
          <a:ln w="12700">
            <a:solidFill>
              <a:srgbClr val="2E6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25880"/>
            <a:ext cx="10972800" cy="914400"/>
          </a:xfrm>
          <a:prstGeom prst="rect">
            <a:avLst/>
          </a:prstGeom>
          <a:noFill/>
        </p:spPr>
        <p:txBody>
          <a:bodyPr wrap="square">
            <a:spAutoFit/>
          </a:bodyPr>
          <a:lstStyle/>
          <a:p>
            <a:pPr algn="l"/>
            <a:r>
              <a:rPr sz="1300" b="0" i="0">
                <a:solidFill>
                  <a:srgbClr val="1A1A2E"/>
                </a:solidFill>
                <a:latin typeface="Calibri"/>
              </a:rPr>
              <a:t>The Digital Twin Health Activity Tracker adopts the Iterative Enhancement Model as its core maintenance strategy. This model best fits the project's need for continuous improvement, regular algorithm recalibration, and user-driven feature evolution while keeping the system stable and tested throughout its lifecycle.</a:t>
            </a:r>
          </a:p>
        </p:txBody>
      </p:sp>
      <p:sp>
        <p:nvSpPr>
          <p:cNvPr id="8" name="Rounded Rectangle 7"/>
          <p:cNvSpPr/>
          <p:nvPr/>
        </p:nvSpPr>
        <p:spPr>
          <a:xfrm>
            <a:off x="457200" y="2606040"/>
            <a:ext cx="5577840" cy="1188720"/>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697480"/>
            <a:ext cx="5303520" cy="365760"/>
          </a:xfrm>
          <a:prstGeom prst="rect">
            <a:avLst/>
          </a:prstGeom>
          <a:noFill/>
        </p:spPr>
        <p:txBody>
          <a:bodyPr wrap="square">
            <a:spAutoFit/>
          </a:bodyPr>
          <a:lstStyle/>
          <a:p>
            <a:pPr algn="l"/>
            <a:r>
              <a:rPr sz="1500" b="1" i="0">
                <a:solidFill>
                  <a:srgbClr val="FFFFFF"/>
                </a:solidFill>
                <a:latin typeface="Calibri"/>
              </a:rPr>
              <a:t>Corrective</a:t>
            </a:r>
          </a:p>
        </p:txBody>
      </p:sp>
      <p:sp>
        <p:nvSpPr>
          <p:cNvPr id="10" name="TextBox 9"/>
          <p:cNvSpPr txBox="1"/>
          <p:nvPr/>
        </p:nvSpPr>
        <p:spPr>
          <a:xfrm>
            <a:off x="594360" y="3081528"/>
            <a:ext cx="5303520" cy="594360"/>
          </a:xfrm>
          <a:prstGeom prst="rect">
            <a:avLst/>
          </a:prstGeom>
          <a:noFill/>
        </p:spPr>
        <p:txBody>
          <a:bodyPr wrap="square">
            <a:spAutoFit/>
          </a:bodyPr>
          <a:lstStyle/>
          <a:p>
            <a:pPr algn="l"/>
            <a:r>
              <a:rPr sz="1150" b="0" i="0">
                <a:solidFill>
                  <a:srgbClr val="FFFFFF"/>
                </a:solidFill>
                <a:latin typeface="Calibri"/>
              </a:rPr>
              <a:t>All reported defects logged as GitHub Issues and triaged before each sprint.</a:t>
            </a:r>
          </a:p>
        </p:txBody>
      </p:sp>
      <p:sp>
        <p:nvSpPr>
          <p:cNvPr id="11" name="Rounded Rectangle 10"/>
          <p:cNvSpPr/>
          <p:nvPr/>
        </p:nvSpPr>
        <p:spPr>
          <a:xfrm>
            <a:off x="6309360" y="2606040"/>
            <a:ext cx="5577840" cy="1188720"/>
          </a:xfrm>
          <a:prstGeom prst="roundRect">
            <a:avLst/>
          </a:prstGeom>
          <a:solidFill>
            <a:srgbClr val="D9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697480"/>
            <a:ext cx="5303520" cy="365760"/>
          </a:xfrm>
          <a:prstGeom prst="rect">
            <a:avLst/>
          </a:prstGeom>
          <a:noFill/>
        </p:spPr>
        <p:txBody>
          <a:bodyPr wrap="square">
            <a:spAutoFit/>
          </a:bodyPr>
          <a:lstStyle/>
          <a:p>
            <a:pPr algn="l"/>
            <a:r>
              <a:rPr sz="1500" b="1" i="0">
                <a:solidFill>
                  <a:srgbClr val="FFFFFF"/>
                </a:solidFill>
                <a:latin typeface="Calibri"/>
              </a:rPr>
              <a:t>Adaptive</a:t>
            </a:r>
          </a:p>
        </p:txBody>
      </p:sp>
      <p:sp>
        <p:nvSpPr>
          <p:cNvPr id="13" name="TextBox 12"/>
          <p:cNvSpPr txBox="1"/>
          <p:nvPr/>
        </p:nvSpPr>
        <p:spPr>
          <a:xfrm>
            <a:off x="6446520" y="3081528"/>
            <a:ext cx="5303520" cy="594360"/>
          </a:xfrm>
          <a:prstGeom prst="rect">
            <a:avLst/>
          </a:prstGeom>
          <a:noFill/>
        </p:spPr>
        <p:txBody>
          <a:bodyPr wrap="square">
            <a:spAutoFit/>
          </a:bodyPr>
          <a:lstStyle/>
          <a:p>
            <a:pPr algn="l"/>
            <a:r>
              <a:rPr sz="1150" b="0" i="0">
                <a:solidFill>
                  <a:srgbClr val="FFFFFF"/>
                </a:solidFill>
                <a:latin typeface="Calibri"/>
              </a:rPr>
              <a:t>Dependencies pinned via package-lock.json; updated every minor sprint.</a:t>
            </a:r>
          </a:p>
        </p:txBody>
      </p:sp>
      <p:sp>
        <p:nvSpPr>
          <p:cNvPr id="14" name="Rounded Rectangle 13"/>
          <p:cNvSpPr/>
          <p:nvPr/>
        </p:nvSpPr>
        <p:spPr>
          <a:xfrm>
            <a:off x="457200" y="3931920"/>
            <a:ext cx="5577840" cy="1188720"/>
          </a:xfrm>
          <a:prstGeom prst="roundRect">
            <a:avLst/>
          </a:prstGeom>
          <a:solidFill>
            <a:srgbClr val="1B7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023360"/>
            <a:ext cx="5303520" cy="365760"/>
          </a:xfrm>
          <a:prstGeom prst="rect">
            <a:avLst/>
          </a:prstGeom>
          <a:noFill/>
        </p:spPr>
        <p:txBody>
          <a:bodyPr wrap="square">
            <a:spAutoFit/>
          </a:bodyPr>
          <a:lstStyle/>
          <a:p>
            <a:pPr algn="l"/>
            <a:r>
              <a:rPr sz="1500" b="1" i="0">
                <a:solidFill>
                  <a:srgbClr val="FFFFFF"/>
                </a:solidFill>
                <a:latin typeface="Calibri"/>
              </a:rPr>
              <a:t>Perfective</a:t>
            </a:r>
          </a:p>
        </p:txBody>
      </p:sp>
      <p:sp>
        <p:nvSpPr>
          <p:cNvPr id="16" name="TextBox 15"/>
          <p:cNvSpPr txBox="1"/>
          <p:nvPr/>
        </p:nvSpPr>
        <p:spPr>
          <a:xfrm>
            <a:off x="594360" y="4407408"/>
            <a:ext cx="5303520" cy="594360"/>
          </a:xfrm>
          <a:prstGeom prst="rect">
            <a:avLst/>
          </a:prstGeom>
          <a:noFill/>
        </p:spPr>
        <p:txBody>
          <a:bodyPr wrap="square">
            <a:spAutoFit/>
          </a:bodyPr>
          <a:lstStyle/>
          <a:p>
            <a:pPr algn="l"/>
            <a:r>
              <a:rPr sz="1150" b="0" i="0">
                <a:solidFill>
                  <a:srgbClr val="FFFFFF"/>
                </a:solidFill>
                <a:latin typeface="Calibri"/>
              </a:rPr>
              <a:t>Feature roadmap driven by health-domain insights and user feedback.</a:t>
            </a:r>
          </a:p>
        </p:txBody>
      </p:sp>
      <p:sp>
        <p:nvSpPr>
          <p:cNvPr id="17" name="Rounded Rectangle 16"/>
          <p:cNvSpPr/>
          <p:nvPr/>
        </p:nvSpPr>
        <p:spPr>
          <a:xfrm>
            <a:off x="6309360" y="3931920"/>
            <a:ext cx="5577840" cy="1188720"/>
          </a:xfrm>
          <a:prstGeom prst="round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023360"/>
            <a:ext cx="5303520" cy="365760"/>
          </a:xfrm>
          <a:prstGeom prst="rect">
            <a:avLst/>
          </a:prstGeom>
          <a:noFill/>
        </p:spPr>
        <p:txBody>
          <a:bodyPr wrap="square">
            <a:spAutoFit/>
          </a:bodyPr>
          <a:lstStyle/>
          <a:p>
            <a:pPr algn="l"/>
            <a:r>
              <a:rPr sz="1500" b="1" i="0">
                <a:solidFill>
                  <a:srgbClr val="FFFFFF"/>
                </a:solidFill>
                <a:latin typeface="Calibri"/>
              </a:rPr>
              <a:t>Preventive</a:t>
            </a:r>
          </a:p>
        </p:txBody>
      </p:sp>
      <p:sp>
        <p:nvSpPr>
          <p:cNvPr id="19" name="TextBox 18"/>
          <p:cNvSpPr txBox="1"/>
          <p:nvPr/>
        </p:nvSpPr>
        <p:spPr>
          <a:xfrm>
            <a:off x="6446520" y="4407408"/>
            <a:ext cx="5303520" cy="594360"/>
          </a:xfrm>
          <a:prstGeom prst="rect">
            <a:avLst/>
          </a:prstGeom>
          <a:noFill/>
        </p:spPr>
        <p:txBody>
          <a:bodyPr wrap="square">
            <a:spAutoFit/>
          </a:bodyPr>
          <a:lstStyle/>
          <a:p>
            <a:pPr algn="l"/>
            <a:r>
              <a:rPr sz="1150" b="0" i="0">
                <a:solidFill>
                  <a:srgbClr val="FFFFFF"/>
                </a:solidFill>
                <a:latin typeface="Calibri"/>
              </a:rPr>
              <a:t>80%+ test coverage target + code reviews enforced on every pull request.</a:t>
            </a:r>
          </a:p>
        </p:txBody>
      </p:sp>
      <p:sp>
        <p:nvSpPr>
          <p:cNvPr id="20" name="Rectangle 19"/>
          <p:cNvSpPr/>
          <p:nvPr/>
        </p:nvSpPr>
        <p:spPr>
          <a:xfrm>
            <a:off x="0" y="6309360"/>
            <a:ext cx="12188952" cy="5486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336792"/>
            <a:ext cx="10972800" cy="411480"/>
          </a:xfrm>
          <a:prstGeom prst="rect">
            <a:avLst/>
          </a:prstGeom>
          <a:noFill/>
        </p:spPr>
        <p:txBody>
          <a:bodyPr wrap="square">
            <a:spAutoFit/>
          </a:bodyPr>
          <a:lstStyle/>
          <a:p>
            <a:pPr algn="ctr"/>
            <a:r>
              <a:rPr sz="1100" b="0" i="0">
                <a:solidFill>
                  <a:srgbClr val="FFFFFF"/>
                </a:solidFill>
                <a:latin typeface="Calibri"/>
              </a:rPr>
              <a:t>Maintenance Process Model  |  Digital Twin Health Activity Tracker  |  29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